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a80eb886da42f7" /><Relationship Type="http://schemas.openxmlformats.org/officeDocument/2006/relationships/extended-properties" Target="/docProps/app.xml" Id="R6f4f54628543467f" /><Relationship Type="http://schemas.openxmlformats.org/officeDocument/2006/relationships/officeDocument" Target="/ppt/presentation.xml" Id="Reebac0d56bef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23816eec2f4326"/>
  </p:sldMasterIdLst>
  <p:notesMasterIdLst>
    <p:notesMasterId xmlns:r="http://schemas.openxmlformats.org/officeDocument/2006/relationships" r:id="Rc8a7a93558424e19"/>
  </p:notesMasterIdLst>
  <p:sldIdLst>
    <p:sldId xmlns:r="http://schemas.openxmlformats.org/officeDocument/2006/relationships" id="256" r:id="R7f8a1acfbf6b4881"/>
    <p:sldId xmlns:r="http://schemas.openxmlformats.org/officeDocument/2006/relationships" id="257" r:id="R91449fc4f48440fb"/>
    <p:sldId xmlns:r="http://schemas.openxmlformats.org/officeDocument/2006/relationships" id="258" r:id="Rea5baff411824850"/>
    <p:sldId xmlns:r="http://schemas.openxmlformats.org/officeDocument/2006/relationships" id="259" r:id="R5f73672a17fa4435"/>
    <p:sldId xmlns:r="http://schemas.openxmlformats.org/officeDocument/2006/relationships" id="260" r:id="Reb86d3bc60c24e75"/>
    <p:sldId xmlns:r="http://schemas.openxmlformats.org/officeDocument/2006/relationships" id="261" r:id="R3aad96318c134289"/>
    <p:sldId xmlns:r="http://schemas.openxmlformats.org/officeDocument/2006/relationships" id="262" r:id="R58b74ac92fe346d2"/>
    <p:sldId xmlns:r="http://schemas.openxmlformats.org/officeDocument/2006/relationships" id="263" r:id="R43081017eae74d83"/>
    <p:sldId xmlns:r="http://schemas.openxmlformats.org/officeDocument/2006/relationships" id="264" r:id="R896f318614a844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3027f624ad4657" /><Relationship Type="http://schemas.openxmlformats.org/officeDocument/2006/relationships/slideMaster" Target="/ppt/slideMasters/slideMaster1.xml" Id="R0423816eec2f4326" /><Relationship Type="http://schemas.openxmlformats.org/officeDocument/2006/relationships/notesMaster" Target="/ppt/notesMasters/notesMaster1.xml" Id="Rc8a7a93558424e19" /><Relationship Type="http://schemas.openxmlformats.org/officeDocument/2006/relationships/presProps" Target="/ppt/presProps.xml" Id="R8ad74ebd3b944df7" /><Relationship Type="http://schemas.openxmlformats.org/officeDocument/2006/relationships/tableStyles" Target="/ppt/tableStyles.xml" Id="R93ceaa2655394d8b" /><Relationship Type="http://schemas.openxmlformats.org/officeDocument/2006/relationships/slide" Target="/ppt/slides/slide1.xml" Id="R7f8a1acfbf6b4881" /><Relationship Type="http://schemas.openxmlformats.org/officeDocument/2006/relationships/slide" Target="/ppt/slides/slide2.xml" Id="R91449fc4f48440fb" /><Relationship Type="http://schemas.openxmlformats.org/officeDocument/2006/relationships/slide" Target="/ppt/slides/slide3.xml" Id="Rea5baff411824850" /><Relationship Type="http://schemas.openxmlformats.org/officeDocument/2006/relationships/slide" Target="/ppt/slides/slide4.xml" Id="R5f73672a17fa4435" /><Relationship Type="http://schemas.openxmlformats.org/officeDocument/2006/relationships/slide" Target="/ppt/slides/slide5.xml" Id="Reb86d3bc60c24e75" /><Relationship Type="http://schemas.openxmlformats.org/officeDocument/2006/relationships/slide" Target="/ppt/slides/slide6.xml" Id="R3aad96318c134289" /><Relationship Type="http://schemas.openxmlformats.org/officeDocument/2006/relationships/slide" Target="/ppt/slides/slide7.xml" Id="R58b74ac92fe346d2" /><Relationship Type="http://schemas.openxmlformats.org/officeDocument/2006/relationships/slide" Target="/ppt/slides/slide8.xml" Id="R43081017eae74d83" /><Relationship Type="http://schemas.openxmlformats.org/officeDocument/2006/relationships/slide" Target="/ppt/slides/slide9.xml" Id="R896f318614a8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e62307a33347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af3deed154af6" /><Relationship Type="http://schemas.openxmlformats.org/officeDocument/2006/relationships/notesMaster" Target="/ppt/notesMasters/notesMaster1.xml" Id="R310ffb4405aa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f7f833a83244ca" /><Relationship Type="http://schemas.openxmlformats.org/officeDocument/2006/relationships/notesMaster" Target="/ppt/notesMasters/notesMaster1.xml" Id="Rc8d5fbfb72be40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88f0866e284573" /><Relationship Type="http://schemas.openxmlformats.org/officeDocument/2006/relationships/notesMaster" Target="/ppt/notesMasters/notesMaster1.xml" Id="R7ce8a6f7e8da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f12ff4e0154df5" /><Relationship Type="http://schemas.openxmlformats.org/officeDocument/2006/relationships/notesMaster" Target="/ppt/notesMasters/notesMaster1.xml" Id="R7bc1d4e1ea1e4f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d741dca2874670" /><Relationship Type="http://schemas.openxmlformats.org/officeDocument/2006/relationships/notesMaster" Target="/ppt/notesMasters/notesMaster1.xml" Id="Rbfdf16f1659746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4a2aac7e94a9f" /><Relationship Type="http://schemas.openxmlformats.org/officeDocument/2006/relationships/notesMaster" Target="/ppt/notesMasters/notesMaster1.xml" Id="R0f683f1a3484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accbde8c664b0a" /><Relationship Type="http://schemas.openxmlformats.org/officeDocument/2006/relationships/notesMaster" Target="/ppt/notesMasters/notesMaster1.xml" Id="Rdda5efad56494e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384c02975f4426" /><Relationship Type="http://schemas.openxmlformats.org/officeDocument/2006/relationships/notesMaster" Target="/ppt/notesMasters/notesMaster1.xml" Id="R1ac37985fb434b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513079307242d9" /><Relationship Type="http://schemas.openxmlformats.org/officeDocument/2006/relationships/notesMaster" Target="/ppt/notesMasters/notesMaster1.xml" Id="R8b86c78628cf40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1. Title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老师，这次我把 Stage 2 的定义纠正过来。真正要蒸馏的不是外置的 shallow localizer，而是 Lumina-DiMOO 自己的 semantic evaluator / MMU-like ability。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2. Student definition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这里要讲清楚：v0/v1 localizer 是 scaffold，不是最终 student。正式 student 应该是 Lumina-native evaluator，也就是 Lumina 自己看图和 prompt，然后输出 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3. Target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目标流程是 Lumina generate，然后 Lumina-native evaluator 输出 JSON，selector 把 cells 映射成 token mask，再由 Lumina reopen。这里不再把外置 shallow localizer 当主角。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4. Feasibility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第一步不是直接训练，而是确认 Lumina-DiMOO wrapper 是否真的支持 image-conditioned text generation。如果没有这个 hook，就必须停下来，不能假装 RGB localizer 是正式 student。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5. Teacher supervision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还是 Qwen3.7-plus。它负责产生 prompt-image 到 SemanticEvaluation JSON 的监督信号。之后 Lumina 要模仿这个输出格式和判断能力。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6. Training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现在代码先准备 SFT examples：输入是 evaluator prompt 和 image，target 是 Qwen 的 JSON。真正 LoRA/SFT 要等 Lumina native answer hook 被验证后再开始。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7. Benchmark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 benchmark 只比较 before 和 after：before 是 Lumina direct generation；after 是 Lumina-native evaluator 加 selector 加 ASCR loop。外置 localizer 不作为正式 benchmark arm。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8. Server handoff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服务器下一步不是跑 grid-localizer-v1 benchmark，而是先做 Lumina-native audit。如果没有 native answer hook，就记录 blocker，先不要做正式 Stage 2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9. Decision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判断标准很清楚：先看 hook 是否存在，再看 JSON 输出是否合法，最后再看 before/after benchmark 是否有提升。如果 hook 不存在，下一步是补能力，不是继续包装 shallow localizer。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0d46014514d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3df5126ce24844" /><Relationship Type="http://schemas.openxmlformats.org/officeDocument/2006/relationships/slideLayout" Target="/ppt/slideLayouts/slideLayout1.xml" Id="R0978c7bf30934d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78c7bf30934d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abc1ac46a4d73" /><Relationship Type="http://schemas.openxmlformats.org/officeDocument/2006/relationships/notesSlide" Target="/ppt/notesSlides/notesSlide1.xml" Id="Rc1c377caecf441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806616fc34798" /><Relationship Type="http://schemas.openxmlformats.org/officeDocument/2006/relationships/notesSlide" Target="/ppt/notesSlides/notesSlide2.xml" Id="Rbfc80a7bb16d46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1fd3389be47cc" /><Relationship Type="http://schemas.openxmlformats.org/officeDocument/2006/relationships/notesSlide" Target="/ppt/notesSlides/notesSlide3.xml" Id="R87532f2324e94f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ac5b62c6046f7" /><Relationship Type="http://schemas.openxmlformats.org/officeDocument/2006/relationships/notesSlide" Target="/ppt/notesSlides/notesSlide4.xml" Id="R9f4e55d6c9bf4f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15412dd34406f" /><Relationship Type="http://schemas.openxmlformats.org/officeDocument/2006/relationships/notesSlide" Target="/ppt/notesSlides/notesSlide5.xml" Id="R7bb8ab8be60e42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66667500d4247" /><Relationship Type="http://schemas.openxmlformats.org/officeDocument/2006/relationships/notesSlide" Target="/ppt/notesSlides/notesSlide6.xml" Id="R1640eb14af1048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f4a7452ad40ed" /><Relationship Type="http://schemas.openxmlformats.org/officeDocument/2006/relationships/notesSlide" Target="/ppt/notesSlides/notesSlide7.xml" Id="R5ff6d6a6f2844c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97f0965464066" /><Relationship Type="http://schemas.openxmlformats.org/officeDocument/2006/relationships/notesSlide" Target="/ppt/notesSlides/notesSlide8.xml" Id="R5a0cec66fbae42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95a24037c4f78" /><Relationship Type="http://schemas.openxmlformats.org/officeDocument/2006/relationships/notesSlide" Target="/ppt/notesSlides/notesSlide9.xml" Id="Ra2b36c5cbbf441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1266A4-0DB6-4C06-AAEC-F85410D3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523DB-2C85-4193-9A73-095AE16E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010B2-E003-4D81-A7B7-F27FEDFF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Stage 2 Pivot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C12EF-18A2-4D19-A6CE-831689B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Distill Lumina-DiMOO into its own semantic evaluator, not an external shallow localizer.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73A39-E72A-430D-8AA2-C73C7752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D1F68-584E-408E-8FD2-F27C69E2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Teacher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6412D-3F43-4FF2-B159-E7717082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43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Qwen3.7 JSON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3DB21-E8A6-4B8F-B639-47F4CBAD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62400"/>
            <a:ext cx="742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5AE6E-3BD4-4A5F-8360-1BC650E4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671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EB3AB-E17A-49CE-BE60-7B9FEA85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952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Student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57C5B-3723-4225-9592-F51CC286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433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Lumina-native evaluator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2EE64-0EC9-40A9-A631-ADFEDF3E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62400"/>
            <a:ext cx="7429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22F57-5FC3-4152-9B00-1EDCE9D8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73760-FB62-450E-B38B-6DAABD7A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195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C5F10-9BE2-4D9F-AF68-D8169C87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433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selector + reopen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5B8E2-96A5-47FA-8751-E588733D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Project: Alternating Semantic-Confidence Revision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E9ED6-F40C-463B-9C97-86199EC0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7548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64EF9E-7185-46FF-AF5E-4585D6C9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EB97B-737B-4E80-BD21-A94B81DA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5CC80-A195-4906-B5D0-147B4E7E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Correction: what the student should 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F9EC4-1117-45CF-95F5-A81A8B4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old localizer was useful infrastructure, but not the final research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9893E-CB23-4EDF-90BF-894F1FC1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87D3D-0CF4-4B51-971F-D99F6E9B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894DD-6235-41C0-B871-8374EF32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Old scaffold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75F69-B978-46C7-9336-6B8D33FD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external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CB2D1-F4DF-4676-84FC-86F9D2B3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RGB/prompt-hash localizer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0ECAC-3C2A-413F-B92E-D69A1E09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DF7BB-10D9-433A-9112-D320B18C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4B50B-096B-49F0-A9A1-F637AC79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Formal student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222A6-F9A2-40CA-BD43-E055C966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native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18B19-1423-46F1-8CC5-A3E0A5F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Lumina reads image +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122F2-A38A-4792-BB27-E6828D00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7B7C9-BE02-4411-9404-DCF5A53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E43C2-963B-4CD0-80B3-D3494BA8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67A8C-8AC0-46FA-902E-D73C7CA7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fixed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CDDAA-53C2-46D9-BC2B-747C8350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cells -&gt; reopen 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DEC56-D95F-4CF9-95B8-85B2804F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6D8E3-EB48-46A0-A11F-6FEF8E71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The distilled capability should live in the Lumina model path.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E2E4C-3206-4866-A7B4-3E4CA104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50850-484C-45DC-90AD-F5E9FC9C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Output remains strict SemanticEvaluation JSON.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09009-26D1-466C-B36B-AFFDF747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691E3F-24AF-49BA-8ED2-AE19095E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GridSemanticReopeningSelector stays fixed for now.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62D47-29B7-4F4F-9468-E8213583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00720-EB73-4CDD-91DB-C7D72012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8665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510394-493C-46A6-858D-76B2C2EB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5B5E6-C237-4E18-99C4-99C56535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19483-9499-465D-82FD-055FEFE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Target ASCR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A5A8E-BD91-4309-8911-E6607C2E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 single Lumina path generates, evaluates, and reopens.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C0EB5-9649-4757-9C19-1EB5CE2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295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F2ADD-5DF9-4233-B9FF-07F95464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90113-C9C7-42E4-8250-C29F5154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text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DCB98-2FEC-408C-8923-E9A63B3A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EC088-AAA3-452E-B956-B5008D63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1866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499B3-8335-4790-96CD-F301C8C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Lumina generate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65A79-D29C-4B5E-8CF3-B659C2E7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initial image/tokens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D5F39-ABE6-4D9D-93FF-B169B13B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D8BAB-0187-4B68-BB48-FBC080C3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2133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2645D-90CA-4969-944E-F1D9653E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Lumina 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38BC7-7BD2-4E1E-8D4F-68B01E6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766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JSON: has_error + 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4F846-3E55-4242-B182-01A83BE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861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E53D8-9A48-4D2A-86D6-75E7561D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581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40A17-9BF8-4E32-A4C0-D7748C2D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Selector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42DA6-6A02-4D48-A66E-9340308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cells -&gt; token 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B301C-4C87-4059-86EA-28C1E55B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861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DEA1E-B802-40AE-BB69-6E625183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003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896FF-7A88-4B0F-A0FF-6F6A6A66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527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Reopen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28546-A4B2-419D-97AF-871AF64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766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continue Lumina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0D57C-1F11-4231-9EF8-E195CBF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90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45690-C4AA-4A84-8CC4-9837DDD5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Stop: no error / malformed JSON abstention / no actionable cells / max_iterations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D549E-C56B-4E31-8CC3-B559E854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3300C-E077-4E90-A965-3212A7E5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6267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69F7C-CCB0-46A8-9F77-30E6D513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6C831-942A-47AC-8C62-6090B7FE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69F28-DB9D-4C8F-A67F-D4C630D6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Feasibility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A5F1B-060E-4978-B13D-7D76DD27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Before training, prove Lumina can answer from image/image tokens.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571DD-A98C-4294-BC7D-EE6CF327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4FD4E-0696-47CB-BBC5-BE23136A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Required 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6CDCE-B6A0-41AC-9BDD-960F0022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6114F-BC4F-45F0-A134-FAC2BCC1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answer_image(question, image)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ECE80-9A12-4673-A196-960698C8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A62B3-7BCD-4D7C-B7C8-DB598C7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38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or answer_vq_tokens(question, codes)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9B4B1-3C1D-477A-9282-94ED8A59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48FD2-E79F-4004-B66D-6A9DD7D3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or equivalent MMU text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BDCCF-5AD8-48DA-926E-2DA81563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FB20D-FB98-4D1A-96EB-D0EB6CBD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Safe default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9C3D9-B8BC-4F9C-BEB5-E567BACC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15641-F448-453F-AD4F-6D09CC30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38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If hook is missing: abstain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BB1EB-225A-42C6-9DED-45E12274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8328E-29DF-4CE8-A254-EDBAA193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Malformed JSON: abstain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E7A55-6ED4-4FC4-9318-21AA1AD5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A28E1-3261-4EDD-BD4A-B56B593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No unsafe reopen from guesses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CE734-17E8-4DC1-B828-310A9965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462CB-C40E-439F-95D0-1DF946D9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8490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76064-1C4F-497B-B95A-A57CED5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4EF03-0757-4893-A0DD-CAA63CDE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5F423-20CE-4CAA-BBEB-31A0E086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Teacher supervision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B86DC-C3DD-4DD0-9B67-EB757C5D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Qwen3.7-plus produces the JSON behavior Lumina should imitate.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5727E-6A52-414E-84AB-35AE9F8E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67A94-FF56-43DA-82E9-A1187AE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prompt +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45271-BFBA-4483-A18A-78B83C9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current ASCR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05CCA-BCFF-463A-ABEE-0447F1A8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D19AA-2455-4CD7-B613-56B0FBA5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8C6E2-4184-4608-8706-7D01F970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Qwen3.7 teacher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F616D-0536-4AA0-9B66-1382E9A6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offline/API labels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13341-5BFC-4F94-BDDA-135704A6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DEA8C-44C2-428B-AF3B-8F0E05F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78543-D7A8-419E-8EE8-85EF02E3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04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target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9B1E6-D166-43AA-B442-57D1428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SemanticEvaluation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C3651-6943-4F6A-8CFB-15349421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E357C-29FD-443B-88FE-98809AB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Fields: has_error, regions.cells, reason, confidence, correction_instruction.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D304A-6828-4AFC-B523-A1FA27D5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D3678-433F-4FC1-95F4-FC6867BB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Teacher labels are collected offline on the login node.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0684F-E2AF-4AB8-8195-4AD3A5A9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471DF-B4F4-45C7-9B32-5C6E3116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No API key enters compute-node generation or final ASCR inference.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05A90-95A2-4BDB-96FC-36871A5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B30B4-EEC4-4E0C-A6C3-34DB6C7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393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963812-E62E-4491-A278-68FE2C3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3F50A-16BA-467D-BEF1-FB269762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1B4E3-5389-47C0-A103-8321D264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Training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C0B61-E142-4ED1-A0DB-9DAD6A5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Prepare SFT rows now; LoRA starts only after the native hook is verified.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94470-8DFB-442E-9F11-FE82D82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DA60E-E44C-49C0-A13C-D5976B2D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teacher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347D8-E610-4E4B-B098-FEF7FA4A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localization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829A8-78D3-45E3-A86E-0E669DDB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28B2C-D1A2-4C19-B525-9895D059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432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4CD7A-48DC-43B5-A927-71FB7768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956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SFT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40B70-EB68-4C0B-98A6-B0F7D250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195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input_text + image + target_json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24D76-EB21-4329-8264-9905CF3B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DF806-CD25-479E-A254-E906D996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5D96E-AC94-40AC-83F0-5600DF6B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LoRA/SFT smoke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250D6-8734-4BE4-961D-557665CE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195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blocked until hook exists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8A8AE-EFA7-47B8-B6AB-E1E2E4A4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9525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EEFFC-AD8B-4BA5-805D-B7EEEA01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244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Current implementation prepares data and records the blocker instead of pretending training is complete.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22FD0-D757-42A3-9BA4-8DE01BCE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E509A-EABF-49E7-BD54-45769E5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0939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EE437-3330-4ED6-B390-D3F14283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D9431-B5E2-4FCE-9F0F-3C9C09FE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847E3-239A-49B5-971C-C14229CA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Benchmark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0493D-E948-4EAD-9411-C2B98177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Only compare direct Lumina vs Lumina-native ASCR.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6DD99-5EEA-4DCC-A121-2BF09AAD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4191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6699C-EA92-42BC-A939-4F046481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B8A2A-A4D0-49C4-B6CD-007FB8CA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9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Lumina direct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AFA5B-2D98-4288-8216-05501A91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191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DB286-7494-4726-87CF-C275F2CC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BFAE0-1A91-466D-B1BF-9A114D6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Lumina-native evaluator + selector + ASCR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B18FA-2A90-4940-BF3B-F6402006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External grid-localizer scaffold is not a formal benchmark arm.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93050-D15D-478E-B60E-FB789467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6BBF6-550E-4659-BAE7-C34169DF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088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5609CE-2E65-4C3C-A76A-2163B090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AB135-28F0-48CB-8525-FBBC2848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1A931-2CB1-4E2E-AA65-BE2998ED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Server execution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28EEE-CB83-48CF-A147-279075C2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What the server AI should run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22E3A-747E-426D-8A35-D29E1419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49FBA-1CF5-41C9-B145-A1939FB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3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1. Pull main and activate .venv-lumina.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2465A-2417-4F40-8E9C-E099A1BA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19559-A9E4-4284-814A-74DA8658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479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2. Run scripts/training/run_lumina_native_audit.sh.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F5649-DB8F-4C62-81C5-67D0610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31663-9A53-447E-8F04-DF731B80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623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3. Prepare SFT smoke data with scripts/training/prepare_lumina_native_sft.sh.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5AB30-15EB-4FD6-B0AC-39FC891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E75AD-895E-4122-BACC-6502AF0A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766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4. Append audit JSON and SFT manifest to AI_COLLAB_LOG.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36D4A-7049-4C7D-A4A0-D20C246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7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4C796-C07F-4342-8CE9-BFFB2FE4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910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5. If native hook is missing, stop and report the blocker.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90D9C-825B-4020-AC51-96ED5866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444DF-DF84-4B58-BC85-35A47311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86809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11E8BD-15E0-4A74-9BA4-F34A8841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E01C1-D5E2-462D-8C0E-75E9D4FA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ASCR 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21FE2-301A-4E3F-886E-49DBE224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Decision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6EC98-3D4F-4831-9D98-7734ECA9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What evidence decides the next engineering branch.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BFC93-C919-4D41-88BD-DB14A0D0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BE547-EA9F-493E-BA1E-9B28C1ED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06741-753B-4D40-9801-3AC1E62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F7DEF-1ABB-4B64-B1E2-39F79414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hook?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F3C29-F3B5-4F56-A5ED-5A10AFF8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image-conditioned text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BA41E-D63D-4EE8-8E88-1A872055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52C6D-35D0-401A-8886-E81444B3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35C98-CB21-4621-B458-D1F0AAC1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Smoke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B02AA-D473-4843-82CB-BF762E19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C3B7F-9B42-44A0-A3FA-95363EA2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valid SemanticEvaluation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451BF-4868-40D6-A7B2-7E41F77A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0AD00-3408-466C-8106-CF9656E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BCEF7-8BB6-4BDE-A5E8-B855274E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94A3B8"/>
                </a:solidFill>
                <a:latin typeface="Aptos Display"/>
                <a:ea typeface="Aptos Display"/>
                <a:cs typeface="Aptos Display"/>
              </a:rPr>
              <a:t>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A49F3-22A0-48FD-AE42-F64DFA5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delta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59B63-5784-431A-B416-7CF2704B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before vs native-ASCR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22E95-C0E9-4FFF-8493-9D5A4644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5D671-4A78-4BC8-BA75-C84FB5B9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If hook exists: implement LoRA/SFT smoke and run native before/after.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18B56-2D60-477C-A295-C2E9BFA2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3BD83-4E7D-4862-ADE8-AA060A4F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If hook is absent: add or expose MMU answer path before further Stage-2 claims.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7DA92-CE5A-408D-8CE6-5EA62C4E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CEF78B-255E-4799-AC68-4A03B167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Do not present shallow external localizer as the final student.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9C293-6F63-42D0-AF9C-95A496F0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ASCR repo docs, AI_COLLAB_LOG, current implementation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C6D25-E035-465E-B846-39E6852D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9114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2026-06-18T10:56:59.7890000Z</dcterms:created>
  <dcterms:modified xsi:type="dcterms:W3CDTF">2026-06-18T10:56:59.7890000Z</dcterms:modified>
</coreProperties>
</file>