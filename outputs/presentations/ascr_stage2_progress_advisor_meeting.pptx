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25f4d7063b4f06" /><Relationship Type="http://schemas.openxmlformats.org/officeDocument/2006/relationships/extended-properties" Target="/docProps/app.xml" Id="R2d00947b406d4a00" /><Relationship Type="http://schemas.openxmlformats.org/officeDocument/2006/relationships/officeDocument" Target="/ppt/presentation.xml" Id="R2a73a93734514e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b5d2d0afcf4123"/>
  </p:sldMasterIdLst>
  <p:notesMasterIdLst>
    <p:notesMasterId xmlns:r="http://schemas.openxmlformats.org/officeDocument/2006/relationships" r:id="Rbec7b16eddd94f05"/>
  </p:notesMasterIdLst>
  <p:sldIdLst>
    <p:sldId xmlns:r="http://schemas.openxmlformats.org/officeDocument/2006/relationships" id="256" r:id="R9b20d9ffeb7a416b"/>
    <p:sldId xmlns:r="http://schemas.openxmlformats.org/officeDocument/2006/relationships" id="257" r:id="R8b1f9ac29cb546b4"/>
    <p:sldId xmlns:r="http://schemas.openxmlformats.org/officeDocument/2006/relationships" id="258" r:id="Rd992bbc9582a4dd1"/>
    <p:sldId xmlns:r="http://schemas.openxmlformats.org/officeDocument/2006/relationships" id="259" r:id="R5b9b2e9b3c9c422b"/>
    <p:sldId xmlns:r="http://schemas.openxmlformats.org/officeDocument/2006/relationships" id="260" r:id="Rffd17af2c46341db"/>
    <p:sldId xmlns:r="http://schemas.openxmlformats.org/officeDocument/2006/relationships" id="261" r:id="Rd512e5daba8944fb"/>
    <p:sldId xmlns:r="http://schemas.openxmlformats.org/officeDocument/2006/relationships" id="262" r:id="Re263dfd7fccc470b"/>
    <p:sldId xmlns:r="http://schemas.openxmlformats.org/officeDocument/2006/relationships" id="263" r:id="Rd8ecfcb30ee74a26"/>
    <p:sldId xmlns:r="http://schemas.openxmlformats.org/officeDocument/2006/relationships" id="264" r:id="R1507d3e60b054f8b"/>
    <p:sldId xmlns:r="http://schemas.openxmlformats.org/officeDocument/2006/relationships" id="265" r:id="R420910d37f114477"/>
    <p:sldId xmlns:r="http://schemas.openxmlformats.org/officeDocument/2006/relationships" id="266" r:id="Ra95a778ffe864aa1"/>
    <p:sldId xmlns:r="http://schemas.openxmlformats.org/officeDocument/2006/relationships" id="267" r:id="Rdeb4824fd5a24087"/>
    <p:sldId xmlns:r="http://schemas.openxmlformats.org/officeDocument/2006/relationships" id="268" r:id="R32f4ed7cd8b0474f"/>
    <p:sldId xmlns:r="http://schemas.openxmlformats.org/officeDocument/2006/relationships" id="269" r:id="R171063fa09eb4fa5"/>
    <p:sldId xmlns:r="http://schemas.openxmlformats.org/officeDocument/2006/relationships" id="270" r:id="R82e059f76a40437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74b8940d904b88" /><Relationship Type="http://schemas.openxmlformats.org/officeDocument/2006/relationships/slideMaster" Target="/ppt/slideMasters/slideMaster1.xml" Id="R55b5d2d0afcf4123" /><Relationship Type="http://schemas.openxmlformats.org/officeDocument/2006/relationships/notesMaster" Target="/ppt/notesMasters/notesMaster1.xml" Id="Rbec7b16eddd94f05" /><Relationship Type="http://schemas.openxmlformats.org/officeDocument/2006/relationships/presProps" Target="/ppt/presProps.xml" Id="R44a3ef309f034325" /><Relationship Type="http://schemas.openxmlformats.org/officeDocument/2006/relationships/tableStyles" Target="/ppt/tableStyles.xml" Id="Rd8e2b85ed56c479f" /><Relationship Type="http://schemas.openxmlformats.org/officeDocument/2006/relationships/slide" Target="/ppt/slides/slide1.xml" Id="R9b20d9ffeb7a416b" /><Relationship Type="http://schemas.openxmlformats.org/officeDocument/2006/relationships/slide" Target="/ppt/slides/slide2.xml" Id="R8b1f9ac29cb546b4" /><Relationship Type="http://schemas.openxmlformats.org/officeDocument/2006/relationships/slide" Target="/ppt/slides/slide3.xml" Id="Rd992bbc9582a4dd1" /><Relationship Type="http://schemas.openxmlformats.org/officeDocument/2006/relationships/slide" Target="/ppt/slides/slide4.xml" Id="R5b9b2e9b3c9c422b" /><Relationship Type="http://schemas.openxmlformats.org/officeDocument/2006/relationships/slide" Target="/ppt/slides/slide5.xml" Id="Rffd17af2c46341db" /><Relationship Type="http://schemas.openxmlformats.org/officeDocument/2006/relationships/slide" Target="/ppt/slides/slide6.xml" Id="Rd512e5daba8944fb" /><Relationship Type="http://schemas.openxmlformats.org/officeDocument/2006/relationships/slide" Target="/ppt/slides/slide7.xml" Id="Re263dfd7fccc470b" /><Relationship Type="http://schemas.openxmlformats.org/officeDocument/2006/relationships/slide" Target="/ppt/slides/slide8.xml" Id="Rd8ecfcb30ee74a26" /><Relationship Type="http://schemas.openxmlformats.org/officeDocument/2006/relationships/slide" Target="/ppt/slides/slide9.xml" Id="R1507d3e60b054f8b" /><Relationship Type="http://schemas.openxmlformats.org/officeDocument/2006/relationships/slide" Target="/ppt/slides/slide10.xml" Id="R420910d37f114477" /><Relationship Type="http://schemas.openxmlformats.org/officeDocument/2006/relationships/slide" Target="/ppt/slides/slide11.xml" Id="Ra95a778ffe864aa1" /><Relationship Type="http://schemas.openxmlformats.org/officeDocument/2006/relationships/slide" Target="/ppt/slides/slide12.xml" Id="Rdeb4824fd5a24087" /><Relationship Type="http://schemas.openxmlformats.org/officeDocument/2006/relationships/slide" Target="/ppt/slides/slide13.xml" Id="R32f4ed7cd8b0474f" /><Relationship Type="http://schemas.openxmlformats.org/officeDocument/2006/relationships/slide" Target="/ppt/slides/slide14.xml" Id="R171063fa09eb4fa5" /><Relationship Type="http://schemas.openxmlformats.org/officeDocument/2006/relationships/slide" Target="/ppt/slides/slide15.xml" Id="R82e059f76a4043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2040cf07114d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3fcdb8dbd34de9" /><Relationship Type="http://schemas.openxmlformats.org/officeDocument/2006/relationships/notesMaster" Target="/ppt/notesMasters/notesMaster1.xml" Id="R0a47b4410d6342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e7d749d3be4d6b" /><Relationship Type="http://schemas.openxmlformats.org/officeDocument/2006/relationships/notesMaster" Target="/ppt/notesMasters/notesMaster1.xml" Id="R3f214ab183f140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fd1c2d0c9541f1" /><Relationship Type="http://schemas.openxmlformats.org/officeDocument/2006/relationships/notesMaster" Target="/ppt/notesMasters/notesMaster1.xml" Id="Rbd0ce91626104f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61dc32d4454be6" /><Relationship Type="http://schemas.openxmlformats.org/officeDocument/2006/relationships/notesMaster" Target="/ppt/notesMasters/notesMaster1.xml" Id="R9aceeb184a3742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867b50ac6a47c5" /><Relationship Type="http://schemas.openxmlformats.org/officeDocument/2006/relationships/notesMaster" Target="/ppt/notesMasters/notesMaster1.xml" Id="R82911629c6314c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5fcd0bffd9475a" /><Relationship Type="http://schemas.openxmlformats.org/officeDocument/2006/relationships/notesMaster" Target="/ppt/notesMasters/notesMaster1.xml" Id="R6fa405149ba94c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fa3868cfe34a5d" /><Relationship Type="http://schemas.openxmlformats.org/officeDocument/2006/relationships/notesMaster" Target="/ppt/notesMasters/notesMaster1.xml" Id="Rb0aba293069b4b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72112a17904a07" /><Relationship Type="http://schemas.openxmlformats.org/officeDocument/2006/relationships/notesMaster" Target="/ppt/notesMasters/notesMaster1.xml" Id="R52f0eeba16384d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f2c83d74b443e2" /><Relationship Type="http://schemas.openxmlformats.org/officeDocument/2006/relationships/notesMaster" Target="/ppt/notesMasters/notesMaster1.xml" Id="R47e83676960c4c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cb135550aec4127" /><Relationship Type="http://schemas.openxmlformats.org/officeDocument/2006/relationships/notesMaster" Target="/ppt/notesMasters/notesMaster1.xml" Id="Rc03d3579588b46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cf72b4db124ed3" /><Relationship Type="http://schemas.openxmlformats.org/officeDocument/2006/relationships/notesMaster" Target="/ppt/notesMasters/notesMaster1.xml" Id="R71ebe823a2b6416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277bdf142141e8" /><Relationship Type="http://schemas.openxmlformats.org/officeDocument/2006/relationships/notesMaster" Target="/ppt/notesMasters/notesMaster1.xml" Id="R04d4dedc65074eb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c5ec7aa90e942d5" /><Relationship Type="http://schemas.openxmlformats.org/officeDocument/2006/relationships/notesMaster" Target="/ppt/notesMasters/notesMaster1.xml" Id="Rf57778b69b664a9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9adfacecf2e405c" /><Relationship Type="http://schemas.openxmlformats.org/officeDocument/2006/relationships/notesMaster" Target="/ppt/notesMasters/notesMaster1.xml" Id="R99e4d50553684c2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8123b1d107b4d7a" /><Relationship Type="http://schemas.openxmlformats.org/officeDocument/2006/relationships/notesMaster" Target="/ppt/notesMasters/notesMaster1.xml" Id="R332781574c5c49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7e909949594a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c789022f6046b7" /><Relationship Type="http://schemas.openxmlformats.org/officeDocument/2006/relationships/slideLayout" Target="/ppt/slideLayouts/slideLayout1.xml" Id="R726a989b46a744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6a989b46a744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0e61af3d64391" /><Relationship Type="http://schemas.openxmlformats.org/officeDocument/2006/relationships/notesSlide" Target="/ppt/notesSlides/notesSlide1.xml" Id="R7f20ef90535047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9562c0c004d47" /><Relationship Type="http://schemas.openxmlformats.org/officeDocument/2006/relationships/notesSlide" Target="/ppt/notesSlides/notesSlide2.xml" Id="R291ba806851646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3f5657a2f446d" /><Relationship Type="http://schemas.openxmlformats.org/officeDocument/2006/relationships/notesSlide" Target="/ppt/notesSlides/notesSlide3.xml" Id="R7b7220d99f8a4c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35ec17838467e" /><Relationship Type="http://schemas.openxmlformats.org/officeDocument/2006/relationships/notesSlide" Target="/ppt/notesSlides/notesSlide4.xml" Id="R5a709152b7f84a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e10f35cd54445" /><Relationship Type="http://schemas.openxmlformats.org/officeDocument/2006/relationships/notesSlide" Target="/ppt/notesSlides/notesSlide5.xml" Id="Rcdcac47e635b4f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cca3bf6ea434c" /><Relationship Type="http://schemas.openxmlformats.org/officeDocument/2006/relationships/notesSlide" Target="/ppt/notesSlides/notesSlide6.xml" Id="R18eaeb689c0346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4aeb19ade43d3" /><Relationship Type="http://schemas.openxmlformats.org/officeDocument/2006/relationships/notesSlide" Target="/ppt/notesSlides/notesSlide7.xml" Id="Re78fbb80b1f14f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166e2c9374672" /><Relationship Type="http://schemas.openxmlformats.org/officeDocument/2006/relationships/notesSlide" Target="/ppt/notesSlides/notesSlide8.xml" Id="Rb87ece6a0f3341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cedfbdda94a49" /><Relationship Type="http://schemas.openxmlformats.org/officeDocument/2006/relationships/notesSlide" Target="/ppt/notesSlides/notesSlide9.xml" Id="R851d97f921bf40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bc8502a264754" /><Relationship Type="http://schemas.openxmlformats.org/officeDocument/2006/relationships/notesSlide" Target="/ppt/notesSlides/notesSlide10.xml" Id="R6243262dc72d41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b50da4f5c404f" /><Relationship Type="http://schemas.openxmlformats.org/officeDocument/2006/relationships/notesSlide" Target="/ppt/notesSlides/notesSlide11.xml" Id="Rafcc6174272348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9fd9b13424bde" /><Relationship Type="http://schemas.openxmlformats.org/officeDocument/2006/relationships/notesSlide" Target="/ppt/notesSlides/notesSlide12.xml" Id="R71314f35d6744ac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cb4fe3a0d4ad8" /><Relationship Type="http://schemas.openxmlformats.org/officeDocument/2006/relationships/notesSlide" Target="/ppt/notesSlides/notesSlide13.xml" Id="Rfd41ece9e6b8479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ca31119b54b2b" /><Relationship Type="http://schemas.openxmlformats.org/officeDocument/2006/relationships/notesSlide" Target="/ppt/notesSlides/notesSlide14.xml" Id="Ra3a497caaef74a7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06d246d8e4c79" /><Relationship Type="http://schemas.openxmlformats.org/officeDocument/2006/relationships/notesSlide" Target="/ppt/notesSlides/notesSlide15.xml" Id="R90c32bda3a574b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F7A711-E13D-45D9-BB22-0F460EAF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A6D25-F686-4628-8477-15999A64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857250"/>
            <a:ext cx="4000500" cy="40005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891B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42DA8-9972-4205-A172-48FF0F55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28750"/>
            <a:ext cx="2857500" cy="28575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9E0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EC690-06BA-4917-9618-3ECCF174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5E31E-5408-4BAE-85D7-DBF908BE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6350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Stage-2 Progress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0C911-0293-4B88-A4A9-871F4943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From selective semantic reopening to distilled student localizers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AFBE0-0D36-4DC9-AEA4-819B8CC5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2190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2A17C-9E1B-46C8-A1A8-18163F4C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Stage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80AA71-670A-425F-9833-57CF1BA2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zero-training ASCR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0420EB-CE55-4D81-81BB-CB022CA3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86200"/>
            <a:ext cx="704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A1B46-178F-41CC-8089-054ACC18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2190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05E6A-1966-4F4D-AC8B-594AECCF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719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Teacher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1EC00E-AFD9-4FED-BD22-8FA3BCBE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957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Qwen3.7 localization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C92C54-EB9E-462E-A95F-1C85EF99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86200"/>
            <a:ext cx="704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B68BA5-FBB3-4227-A190-BF513740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19500"/>
            <a:ext cx="2952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73D36E-6953-4DE0-937E-6899E251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7190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Stage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263D02-2077-4993-9348-1EFD9D57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957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student semantic localizer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E52ADC-CCB3-4FEF-896C-AC5D794D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Advisor meeting update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266778-E3B7-4657-A35C-3020A96B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Project: Alternating Semantic-Confidence Revision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674025-5E59-4034-A842-558E2110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905723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9B208B-3F3D-4D6C-8806-6B3424DA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ACF67-AE52-4051-ADB0-A623CF10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 Stage-2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25B6C-5B1F-42AD-B837-E17006AF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Executive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80F76-B866-4E81-A838-A9F2CF53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What has been built, what the first student shows, and why v1 is the right next step.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E815E-FA87-4411-B148-6CAABE63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2F33B-C2CF-41C8-845D-C0764CE5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480D71-D8F5-407D-AAA2-888397DB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rPr>
              <a:t>Stage-1 Lumina ASCR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8B4781-ED0D-42BA-BC74-97C4813F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90825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+1.6pp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232B5-D32A-4AB7-A795-3FDCF24F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82.8% → 84.4% clean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635950-E412-44DA-859D-08772360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139D5A-870F-47AC-A645-AF8A1B3E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5A3BD-766D-47A3-A378-0DF93860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336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rPr>
              <a:t>Teacher dataset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79D62E-196D-499F-9767-B816E347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90825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64 + 79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E8A4E3-D608-4D2C-894F-6808E296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385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quality + localization labels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2969C7-029E-40FB-9FB0-84762D22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3B8A68-D865-4228-BA0D-38AD0CFA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06F022-6C5D-4D66-AA04-5939963B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336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rPr>
              <a:t>v0 localizer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18AF64-F9C7-47D2-AAF4-96142407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90825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0.20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C5251C-B609-48F8-B359-A01606B0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385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holdout hit_any rate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24FF26-73EF-46ED-BE40-32025258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8125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1862DC-FFAC-4220-B789-E433AF06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812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B5DFBF-A3BD-4CF4-8B82-F4262EF4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336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rPr>
              <a:t>Image judge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5283E8-888D-4EE8-93EE-2D810EA1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90825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+0.012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985A34-1D08-49BD-97B0-ACB70F6D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385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in-domain mean delta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E2E55B-5D65-43F9-9DC6-412229B5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353308-362E-4663-9086-EBEE2B16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End-to-end Stage-2 scaffold is running: train student → generate before/after → judge with Qwen3.7.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774B8F-D056-445C-BC81-461CF247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00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2D7091-2F45-4F84-9861-2FD27EAD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Current v0 is a weak but valid baseline; it verifies the scientific measurement loop.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66FFA7-76BD-4C1B-A4F9-AA3993CD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A70B5A-39B2-4DBA-B536-B013B803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6255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Next: add teacher labels on benchmark images and train grid-localizer-v1.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4D03AC-1B71-4275-8C25-3CD6ECE7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Sources: ASCR repo README, AI_COLLAB_LOG, result JSON summaries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F63925-9F16-48C5-B950-7FC00DAC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666056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049046-26FA-4466-A78D-6F30A742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85B04-41D8-4B30-B39B-CB79DE4D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 Stage-2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60798-E3EC-493A-B2AC-A35AE11A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Research problem: confidence ≠ semantic correctness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95F59-1AAF-47B3-BB11-53D7FE5E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A region may be confidence-stable while still violating the prompt.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185AA-E6CA-47BB-934A-91612D2F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4572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BE31E-3228-42B7-A671-5557E392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Native confidence asks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D5F0C-495F-4D11-85CF-53A0D49F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623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Where is the model uncertain?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AA43F-3E58-4240-80B5-D1024E21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Good for denoising dynamics, but not equivalent to prompt correctness.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88FAB-023C-4723-A0F6-47D48BF2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86000"/>
            <a:ext cx="4572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CB852-B0EB-45C9-A614-6219E1D6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717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ASCR asks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04688-E646-4D0C-A6ED-0AE57F39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67050"/>
            <a:ext cx="3762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Where is the image semantically wrong?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7436A7-DD39-4680-A4E3-6942D588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624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Targets count, relation, color binding, missing/extra object errors.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646DB0-06E7-4A3F-BAE7-EFEB3D20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05150"/>
            <a:ext cx="8382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3D73F5-0F4A-4105-9163-D84BEF62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Sources: ASCR repo README, AI_COLLAB_LOG, result JSON summaries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6A7581-8E00-4C9C-A205-34A632FB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096389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541C23-CFDA-4870-A798-97C75E82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BB528-7864-40D1-A995-D0BDD37D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 Stage-2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F8501-7C8B-400F-AA9A-28C5D6BE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ASCR core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2CBDF-DC15-415D-9B1F-B981C2C0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Alternating native confidence refinement with semantic reopening.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DFCC0-C0A1-4875-9C9F-C0C1D4F4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333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77DB7-0638-4C76-B6F5-A94B3038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6702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Prompt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94A8B-7AD7-4A45-BB57-A4EA410C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text condition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EDA52-4C1B-4DE3-B083-7DC209B4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00375"/>
            <a:ext cx="4572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27C92B-9BDE-4AF9-A1FC-04D4BB6D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14625"/>
            <a:ext cx="1619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1CCDD-80C8-4484-9891-B7F32E96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6702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Generator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7FA72-9B3B-4CBE-BD67-05279E9C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90875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decode tokens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35D183-9D2C-441E-A453-909465E6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00375"/>
            <a:ext cx="4572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DF6D6B-CF66-441B-A1AD-5813C96C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14625"/>
            <a:ext cx="2000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35BF33-2A2C-4617-92BE-BC6462E6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6702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Semantic block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A80D4C-A32C-40B0-BDB4-7B523DFE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9087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localize errors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CA6B34-C356-4C70-8F23-A04CE84C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00375"/>
            <a:ext cx="4572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7EEB51-2B33-43C6-A1E8-274A3F74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14625"/>
            <a:ext cx="1619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388A7C-69BA-468B-9ABD-8041BBF2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6702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Selector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5F4C47-2D44-4BF3-B7FC-F5ECF050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90875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cells -&gt; reopen mask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898A8D-948C-474B-A1D0-3979F4DB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00375"/>
            <a:ext cx="4572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A7E611-0ED5-4DEB-A7AA-DD969C34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14625"/>
            <a:ext cx="1619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621F63-F60E-425D-B400-E9432B0B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86702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Reopen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0579FF-8E33-42DD-BC21-C9C47A1F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190875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continue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0943DE-925B-47C4-B801-556DFE9E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72000"/>
            <a:ext cx="5715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D1ADDC-6D63-471B-A846-F14DD35E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196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Stop conditions: no semantic error / no actionable region / max_iterations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F78C85-B4D8-494F-B868-485C16C7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Sources: ASCR repo README, AI_COLLAB_LOG, result JSON summaries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E7F255-B091-433F-B6D8-9E423B8A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571211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61718B-3591-40D9-9814-6C03A82B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5C337-F750-4AB9-91C3-CFFF4C18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 Stage-2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ABB4E-EA38-4F6B-B267-BC9EFB06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Research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E7DCD-DDD6-4ED4-BDB4-5FA6F3AA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Stage 2 is about learning the semantic localizer/evaluator.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909EB4-2E3E-4F74-A3A1-ECBAAC3B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664C6-7C80-481E-8319-135BD0B0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289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Stage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C4243-BE76-42B7-BFBD-321D7EE2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194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Zero-training ASCR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3BB85-6106-4533-9E3D-A41E5779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624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External/self semantic evaluator; grid cells projected to token reopen masks.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1B18B-9E1E-4211-ABC8-3A714439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33625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B3F29-100A-4569-A5FE-DF5A0409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289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Stage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CBF36-E7F6-46E6-BC15-0329FCF1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194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Distilled student localizer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4BB794-99D8-43FE-8D82-A3DA07F9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9624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Train a local model to predict semantic error cells from prompt + image.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8BD4F-28B0-4ADC-8C81-54501A55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33625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54AABC-0134-4388-884E-6B21CF5C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289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C55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2C55E"/>
                </a:solidFill>
                <a:latin typeface="Aptos Display"/>
                <a:ea typeface="Aptos Display"/>
                <a:cs typeface="Aptos Display"/>
              </a:rPr>
              <a:t>Stage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099625-2D8E-4186-9C91-77B4DA16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194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Cross-model ASCR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DF7556-FF16-46D3-8344-47EFC1C6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624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Generalize across stronger masked/discrete generators and evaluators.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7C290F-4D6C-495C-944C-1177ED5A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Sources: ASCR repo README, AI_COLLAB_LOG, result JSON summaries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F112F2-7140-44CE-B059-228BABBD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243075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7037A1-83BC-41A4-BDA0-480E4F4C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4C144-5D2B-46BE-B43A-029AE712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 Stage-2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A20C8-63A5-4711-8968-A4A6CC51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Stage-1 position: ASCR already helps without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BAADD-FFFC-48F8-8F77-E6215B99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Mainline is Lumina-DiMOO; Show-o/MMaDA remain comparison lines.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CDB60-DD38-45EC-8817-980583BE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49530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B67E1F-12A6-49AD-AAB0-E1C68B30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Clean score summary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BD914-C779-4B57-861B-66B43440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04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Lumina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B605B-395F-4B76-B6A4-631AE2A8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26670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430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DE123-3C45-4858-899E-1AC7A757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220827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9EDF7-9159-4505-A2CF-4FC8EE7C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908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82.8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524819-5CB8-403B-B47E-29E0490F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Lumina + ASCR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0BEA6E-FAD0-4D90-B206-E9C146D4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14750"/>
            <a:ext cx="26670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430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E676B8-9550-48F2-AC23-DF1D4C52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14750"/>
            <a:ext cx="225094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538E0F-DD65-4C1D-9361-510999DC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861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84.4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7C23CD-8F55-4305-A79C-0CF86AEB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Show-o baseline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995CB8-08E6-4726-A520-580B2F99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10050"/>
            <a:ext cx="26670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4304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242C7A-0F3B-48D2-AD1D-D6451E97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10050"/>
            <a:ext cx="195757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C87AB2-3309-4E20-91AF-A7138022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814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73.4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80976C-55F5-4E30-A367-80F4B049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Show-o + ASCR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8AA431-90B9-4F99-8162-34AC169D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05350"/>
            <a:ext cx="26670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430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8BAF98-821B-41E4-A978-D99F290F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05350"/>
            <a:ext cx="208292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E27B5D-72E0-47ED-93F1-B5E0CC25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6767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78.1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DC8D87-52E4-4B6C-8438-5E7B75F4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47900"/>
            <a:ext cx="40005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157C4B-7DBD-4B61-8F82-59ECFF32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150"/>
            <a:ext cx="3238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B45631-BA0B-483D-AC74-9EA06C9A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1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E04BF2-1559-4229-BEE8-54E83EB8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765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rPr>
              <a:t>Lumina ASCR effect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4CE1D0-B98E-47F9-910C-8BEADD26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3372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+1.6pp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1A0AC4-3BDD-473D-A7B0-9BF5B842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8140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82.8% → 84.4%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EBFBA0-5C03-49F7-B6E8-0FB3E3BB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57650"/>
            <a:ext cx="3238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94BA05-BEDC-4D82-A829-F7BC9326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576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328866-BED0-44B2-A9E1-9C66738C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100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rPr>
              <a:t>Show-o ASCR effect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055533-5C39-4334-A0FC-EB8E7F1F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6722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+4.7pp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955C20-D3B0-41B6-BDB2-BC0C5EBA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91490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73.4% → 78.1%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EA660C-9479-4079-BB02-EB993364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Source: README empirical summary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3C93A9-AB6E-4347-8C4F-1F6718D6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137780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83841A-BBDD-4F70-80E6-58A10876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D1145-4673-47FB-BA8E-64EE036D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 Stage-2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E846A-CB7A-47F4-AF82-A123D595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What exactly gets distilled?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909605-BCF0-4EFA-B941-08A50A53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The student learns the evaluator/localizer role, not the selector.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BD228-7BED-4EEF-8F86-152E1A19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4333875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DFD517-853D-4A05-9ABC-9644E1DB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193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semantic localizer / evaluator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E85B3-5862-4F1F-9A4D-AD1E5245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0"/>
            <a:ext cx="361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Input: prompt + current grid image</a:t>
            </a:r>
          </a:p>
          <a:p xmlns:a="http://schemas.openxmlformats.org/drawingml/2006/main">
            <a:pPr algn="l">
              <a:defRPr sz="15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Output: has_error + grid cells + correction instruction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2D88E-E11F-44E8-860D-73C29F62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This is the distillation target.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B7C00-EBC7-4659-926E-FAC1AD93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4333875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B8AB1-FCF8-4523-8A84-9818189D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193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GridSemanticReopeningSelector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76FB56-250E-400A-882D-38782B40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33750"/>
            <a:ext cx="3524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Input: selected grid cells</a:t>
            </a:r>
          </a:p>
          <a:p xmlns:a="http://schemas.openxmlformats.org/drawingml/2006/main">
            <a:pPr algn="l">
              <a:defRPr sz="15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Output: token reopen mask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4E9C4-84F0-4D0E-8A88-0964836A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053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This stays fixed for now.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E3F221-65A8-4482-81C3-F09C7FA6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Sources: ASCR repo README, AI_COLLAB_LOG, result JSON summaries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BB751B-BA1D-47D4-BF53-C53481CB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838822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1C7696-7557-4209-AC1C-74471584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A45A0-6C7D-4052-8F09-23F76FFD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 Stage-2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066CE-9B49-49D8-BE8B-63A5DFD2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Before/after benchmark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828A3-16FE-4626-86CF-66856786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The after image comes from the full ASCR loop, not a single forced reopen.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C2CAB8-43F5-4ED5-BDAA-11E00F7C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before distill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54298-9972-4494-BA06-6495A2D0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1428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C7DCAC-F73A-4859-8F5F-65824664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prompt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5174DA-2D35-4907-9D02-33BA9A51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47B3D-9042-4D6B-9BB6-EA563A76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861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AB3395-6CA7-4F84-9E66-D6F0BE3B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81300"/>
            <a:ext cx="1809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D80C4-2E5A-4BDE-9B91-69A7086B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337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generator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70E59C-0A5C-44A0-8771-DFC3CCC6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575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initial image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12AA33-9848-4EAD-922F-F4751123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after distill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B5B239-DED6-421C-A562-CB839009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1143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88799D-1B5D-48D4-9519-49DAFEF6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577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prompt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2F07C-5F04-4A44-8C0F-838EE287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8160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EA8E49-8E7F-4936-8308-A469F290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01015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2BF8C7-DB3E-4851-A169-D23A7B9A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05350"/>
            <a:ext cx="1428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7A44A4-239E-4B05-B43C-23FD5EC9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8577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generator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3E58ED-5368-402C-83B4-D04EEE9A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1816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same base model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EF2BD2-9A29-40B2-A8EA-AE4665D5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1015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EA523A-C5B8-42FE-AA0C-A5C9D4AB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05350"/>
            <a:ext cx="1809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D94EBC-98D3-4942-B96D-340DBE05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8577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student localizer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601267-3BD0-422E-923E-8F05E663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1816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learned evaluator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0F42D7-D086-43E4-967C-6879FE15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1015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F46813-6360-4EBA-A6D5-78BC5042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05350"/>
            <a:ext cx="1333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96C88D-C0A6-4781-9FCF-AA1F9F51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577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selector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7CAD72-441B-4058-8525-6EEA8DEA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8160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cells → mask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5232D2-9982-4A1D-AAE9-1292EC76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01015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02F05E-1FDE-46B9-8CDE-6A681CE1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705350"/>
            <a:ext cx="1619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726AF0-EFCF-409B-9EEB-43A55B26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8577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ASCR loop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E9E576-F55E-4776-8107-9B3B6A4A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1816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0..max_iterations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86A6C6-C507-42D2-895F-9E2299CD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4762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05245A-E900-4508-8201-A82E27E4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956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Qwen3.7 judge compares initial image vs raw final ASCR candidate.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A92E78-D037-4713-B0D9-EC6A6F24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Sources: ASCR repo README, AI_COLLAB_LOG, result JSON summaries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E911BB-C42C-4516-8C8F-3866A07E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509192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5592D5-839F-4D49-A228-9E188409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21A60-C54D-4B36-9C56-86F48746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 Stage-2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2B922-9987-4195-99D1-34FD8C51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Teacher data: Qwen3.7 compact supervision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3C93E-B838-43AD-8345-EE461DEC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Teacher gives both quality labels and semantic localization labels.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C3F69-8465-490F-99DE-16C7E202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2857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1D48D-8008-4FE9-85A8-9055889E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47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E589B-6BC4-4046-8EF9-9C85EF71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336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rPr>
              <a:t>Quality labels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4F95E-3B02-4C97-8DA9-F1284BA4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90825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64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AD50CA-3326-4737-81DC-A41DDFDF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before/final pairwise scoring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3496EA-B8BC-47B4-B18A-B23A18C5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2857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74EB3B-845D-4E10-AE1D-73830A3D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47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CD42D1-1860-4D79-817B-4A8CF1A6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336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rPr>
              <a:t>Localization labels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29A16A-04C0-4148-BF6D-A075CD05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90825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79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EAB172-F350-45B4-8129-3A0EC70E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3850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prompt + grid image → cells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3EBB78-DE93-4214-9B0D-A343F065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2857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595EA8-69F8-4E29-B8BB-896A2865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47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0291A9-0ADB-4819-BB46-ACE9DE4A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336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rPr>
              <a:t>Unresolved errors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53FC20-C1D6-4CB7-BA45-07D75F7C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90825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CE81D5-C287-4B4E-A17E-B63181FA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3850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after repair/rerun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131779-B764-4385-BF26-829CEAD0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76750"/>
            <a:ext cx="8286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431215-3C3F-40F9-9426-4D621B23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244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Operational split: login node handles OFOX/Qwen API; GPU compute nodes handle generation and training.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6A5671-EAAD-491E-8423-2E8A5267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Source: AI_COLLAB_LOG and teacher distillation artifacts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4EF39C-ECD6-443C-BA23-5B0AA922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571870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DCB185-2DA9-4B07-8312-01374000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82247-B7D0-4FAA-8121-1F730CE0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 Stage-2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20270-9816-49DA-95D7-29055FC1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Student localizer v0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51E14-CC70-4898-8F7A-883FDF95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First end-to-end student baseline: meaningful, but intentionally lightweight.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CABEC-1E26-431F-B57C-38D3315C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619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3C18CD-8DCC-4CC2-85BE-9781979D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prompt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42A2B5-0144-4032-8829-6877386D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hashed text features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3B165-AAA4-4AB9-81F8-C8005F60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90900"/>
            <a:ext cx="6477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F74282-6DB9-461E-97EE-1ECC4C2F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86100"/>
            <a:ext cx="1714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DCB7C-4E28-47F8-8ED4-5943D31B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2385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grid image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23086-4A56-4802-8E39-D54AB0FF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5623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RGB cell features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9F5CA-1CA1-4C18-85C7-1DE70250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390900"/>
            <a:ext cx="6477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7FDED9-99CD-4D2C-8CAC-52763E79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86100"/>
            <a:ext cx="2000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148FDA-9B9C-4D3D-9AE0-1F61DECE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385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v0 student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922D90-133E-42B3-8B11-72FDCA53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623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centroid-style scoring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7ABCAB-82CD-45CD-BE4F-E5E8B438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90900"/>
            <a:ext cx="6477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57AD48-53F1-4901-8938-52553614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86100"/>
            <a:ext cx="2190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233BAD-49A2-49BE-8451-87FF7864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2385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SemanticEvaluation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356E8D-18BC-4751-BEF9-F9185F05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5623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has_error + cells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F98DFC-E5C7-4CE0-B694-D615F769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38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D6C86C-F99B-4A5C-ADD1-C7B91923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625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v0 is not cell-prior: it reads prompt and grid image.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0061D1-414C-44DD-B65E-60138934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9C505D-DF40-422A-B144-C314BE71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435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Still shallow: no neural multimodal representation yet.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277F14-3433-42F0-9157-41EF4B0D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00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56393F-8649-45E6-9013-5FDA7C2F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245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Purpose: validate the Stage-2 measurement and deployment path.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596474-6A27-4CBF-B87F-E41A30C5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Sources: ASCR repo README, AI_COLLAB_LOG, result JSON summaries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3FC5D6-E980-49FC-8BB3-87A7C490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800722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D2CF1F-2E0C-430C-B3DE-5D5515AF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D1EC1-46F6-49C3-BBE2-18BCDBAC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 Stage-2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D6221-BB13-4254-A2B1-DA378DDB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v0 quantitative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8DA45-00A2-4E02-A962-EAD818C6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Pipeline works; the first student remains weak.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6C76A-01EF-443D-A7FB-EFDE1342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228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97C30-DC72-43BF-82E1-CFB3B5E3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A26A88-1FCF-47B1-B2E2-FA39DA3F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rPr>
              <a:t>Train rows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356C9B-23A4-486B-AC25-05390FB3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62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391136-E259-4BA3-96C9-C27DFF05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670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localization 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8F1C9C-69C7-4C10-824A-84AAC304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09800"/>
            <a:ext cx="228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B1D1B-7EE8-4B19-A131-732A632B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098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E2D89D-842D-4F1E-9C34-D290DB79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6220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rPr>
              <a:t>Eval rows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10361-757A-47BB-B56B-E2F599AA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1937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17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6B3803-2940-46E3-87C0-204D7742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670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holdout examples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C03CC1-36D4-4C6C-9D99-5FF7AF09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228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90153C-A621-422A-AFD4-9CB868F0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E0C417-F405-406B-AE27-C0AFE3DA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6220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rPr>
              <a:t>Hit-any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01FC85-E5DB-4A7E-814A-2AE378EA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1937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20.0%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886F6C-93BC-4976-B5B2-7B88B76C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670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2 / 10 evaluated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04C0D7-1BD5-4E23-BE04-4D7CF153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09800"/>
            <a:ext cx="228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C8FF7F-A26E-4371-A435-52E9F0BE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098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7E0C69-C763-44E4-95E9-537E4FD2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6220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rPr>
              <a:t>Mean F1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9D31B1-DAA5-411F-894D-C041614D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1937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0.13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BAF8BF-7808-4BD9-A12C-D3168B60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670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cell localization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367B5A-DD08-4BD4-ABAC-05DA9067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5D9A30-15F7-46DF-A665-8932FBE1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005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Interpretation: v0 is a reproducible weak baseline, not a final Stage-2 student.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197A5F-9E5D-4A3A-8D06-BB727FF2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96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The next useful step is improving the student data/model, not rerunning v0 unchanged.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7B35DA-734E-4FCB-9199-83637E69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Source: outputs/stage2_students/grid_localizer_v0/metrics.json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08D849-C856-4F50-8884-DEAB4D20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808998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EEBF85-6E8E-48D4-AEBA-DB3F5EA9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160B4-2D11-4D94-B21A-74F48276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 Stage-2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39C67-0EE0-4DC5-A2D0-FF217B0C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Before/after image benchmark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85138-5EF1-45F4-9ECE-91F8E95B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No regression is good; meaningful gains require a stronger student.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165A6-F647-41E6-BADC-A76E851B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4762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281CB-2C54-412C-B82B-A9158254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955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In-domain hard64 holdout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CDF5E-9263-43B6-9055-42775F67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67050"/>
            <a:ext cx="1714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FA8CD-CB15-4075-814C-50CC6C02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6705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024BC-778A-4B10-95DD-9FCCFE0B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194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rPr>
              <a:t>Rows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BD257B-2EEB-4CE4-9C59-AD5487CA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76625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CDA969-4A77-4432-961A-D97377E4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243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Qwen3.7 judged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352512-AE76-4305-B524-F4F52268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67050"/>
            <a:ext cx="2000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0F1CCA-B85D-4790-A856-8DB01C2E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6705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348040-27EE-4840-B147-00889967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1945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rPr>
              <a:t>Winner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69EB81-AF89-436C-A888-2186D5B9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76625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1 after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845F3-5FAE-4325-8CF4-EFCD2F74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243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16 ties, 0 before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B77152-1965-4566-82E2-E013E393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91000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5A5AE4-7C47-40A4-9BF6-0468DD63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910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35529A-E9BE-4784-B144-A35692B5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434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rPr>
              <a:t>Mean delta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3594B1-3D3E-41B7-B827-29EB75E5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00575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+0.012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240640-6EAA-4621-B394-AE4C7FD6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after - before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69CBCF-F71F-407B-B4B8-859BB820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90750"/>
            <a:ext cx="4762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66E7B7-F70B-4280-A922-BAB2EAF9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955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Geneval smoke16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EF0DF2-98B8-4854-8FC0-366BD9FC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67050"/>
            <a:ext cx="1714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256039-3079-4EBF-B20F-FAC0FA7E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6705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3DFD11-8D30-41ED-A453-0B8A2B08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194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rPr>
              <a:t>Rows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E1F7C6-279A-4EFB-932E-695312C4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76625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16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28A029-3220-47BD-9A05-8E0E49A0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243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out-domain smoke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358C74-21EE-4B59-A9B0-02D5BD55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67050"/>
            <a:ext cx="2000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A4E145-5542-40F5-9CC5-E9861093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6705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03B755-298A-4F68-A186-8DBDF0F6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1945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rPr>
              <a:t>Winner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9145B6-2275-41D6-9F6F-A3542E8D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76625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all tie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BA039D-3A7A-4AF6-AA9B-477EE0FD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243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0 after, 0 before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B61D54-41DF-4A44-B971-D4DD6DB4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91000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CB78E2-BE6C-4811-94ED-206E279D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910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1071DB-2006-4B47-B89D-4B78F400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434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CA3AF"/>
                </a:solidFill>
                <a:latin typeface="Aptos Display"/>
                <a:ea typeface="Aptos Display"/>
                <a:cs typeface="Aptos Display"/>
              </a:rPr>
              <a:t>Mean delta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31122D-D9FD-495B-AB3E-6052B103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00575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0.000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5EF808-0503-4027-9A2C-E401888D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482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after - before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85BC6D-6B22-4954-9DDC-42789ACF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Source: outputs/api_judges/student_localizer_v0/*/summary.json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3BF5F9-8B11-4E27-8EBB-F1905272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132209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3D3DA5-135E-45C8-AC92-7E3DD0DF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2F6C4-9AA0-4F4D-987C-492341DF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 Stage-2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A9221-EFC0-4E11-A326-6FF3154B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Engineering lessons that changed the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B3248-1210-458F-8B6A-27A0FCF7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Several small bugs would have produced misleading science if left unfixed.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F0D948-965E-49FD-9D45-B7C64B9E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762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7EA89-AA15-49B7-811E-C2A40368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669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F4444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EF4444"/>
                </a:solidFill>
                <a:latin typeface="Aptos Display"/>
                <a:ea typeface="Aptos Display"/>
                <a:cs typeface="Aptos Display"/>
              </a:rPr>
              <a:t>Prompt truncation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822267-CE72-4CD5-BDF7-1B437F68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47975"/>
            <a:ext cx="417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Slurm LIMIT=16 truncated in-domain holdout from 17 to 16.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CD125-D6CB-4664-9DBD-1368985F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38375"/>
            <a:ext cx="4762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E0153-D353-47CF-B340-011CCAFA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669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Fallback semantics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E54BDB-4E02-4D21-88F2-67D058BE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847975"/>
            <a:ext cx="417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final_decoded_image can become initial image under return_initial_on_max_error.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C8CDBC-5982-4548-9132-7ED5972F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4762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9159DB-E244-422B-AEA8-061E4AEC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38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Judge reruns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BC522A-DB04-4DA6-8C20-A30C919C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417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--overwrite needed reset, dedupe, and stale-error pruning.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7D3B86-3DC0-4355-A15A-DD937760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10000"/>
            <a:ext cx="4762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2978BB-88BB-42B9-960F-2180AC62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038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2C55E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22C55E"/>
                </a:solidFill>
                <a:latin typeface="Aptos Display"/>
                <a:ea typeface="Aptos Display"/>
                <a:cs typeface="Aptos Display"/>
              </a:rPr>
              <a:t>API isolation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521A21-76BB-40CF-836E-2E617064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419600"/>
            <a:ext cx="417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Compute nodes must blank OFOX env vars; API stays on login node.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97B8DB-2A07-4C76-9C25-3C185F8F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Source: AI_COLLAB_LOG server audit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75D98E-09A1-4306-9777-2AEB5960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398339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E966B6-76A8-45F3-8817-5F4414A4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E2511-605D-4A3C-A027-25B6D00A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 Stage-2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DDE60-272A-4BF6-8C86-80466E04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Student localizer v1: data and model upgrade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71624-1F51-4F8A-BC10-04F420DF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Use benchmark images as additional teacher-labeled training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E2BCA-7406-411B-9C80-56B03D53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809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F820D-FFD8-4BE4-B71D-DAB80146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v0 manifests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10B91-78F7-4516-B46A-6CEEF743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before/after grid images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A3E77A-3451-417B-A5A0-72782BA9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33750"/>
            <a:ext cx="5524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B1E7EA-65F3-4F4F-9095-998E18AC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28950"/>
            <a:ext cx="2000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8B517E-E44D-4492-8E8B-7F11AA5E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813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Qwen3.7 teacher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810763-B6A0-46D5-B455-EB5126F9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052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new localization labels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1C6B03-4751-4A17-9136-FAFB4068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33750"/>
            <a:ext cx="5524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C7D767-BFD4-4DBC-8033-B0A90215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28950"/>
            <a:ext cx="2190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0E2D6-40D1-4A6E-8249-B7EF5505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merged dataset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7E1A1E-492D-4479-A94E-27040679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052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Hard64 + in-domain + Geneval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B919A9-ABB5-46D9-A4DA-BDC14F07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3750"/>
            <a:ext cx="5524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3ADC84-0A8D-40AB-BE6B-C87C48F5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28950"/>
            <a:ext cx="2095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65D6D9-0829-4420-A72E-AD709983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813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grid-localizer-v1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32B43A-1D10-4926-B555-ACFC1F28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5052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linear model + richer features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293505-633E-43AF-8359-633A8CF8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57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5409C9-65F3-4DC9-9AF8-4FDFD322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815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Richer features: RGB mean/std, contrast, neighbor statistics, prompt hash, domain metadata.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845A8E-5AB4-4FC0-AA0D-80F6B65B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38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126AD6-90BB-44C2-97A7-498E8BB0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625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Still lightweight and reproducible: JSON model, no neural checkpoint yet.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92CDDD-816D-489A-B6EF-82AF0B06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9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623CAE-7B54-473C-A4FE-B5CEB6A0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5435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Purpose: decide whether shallow student modeling is enough before moving to neural Stage 2.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FF505E-AA63-4F8C-9764-EE583DD6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Sources: ASCR repo README, AI_COLLAB_LOG, result JSON summaries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F4F3C2-2C96-4F56-9D1E-1E22457D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440248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76FE14-F488-4756-B569-67C26C07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C8DD7-79F8-46AC-A033-3BA0FC69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 Stage-2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33AC2-F8A6-4EAC-8ECC-1C0DC8A3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Next milestone and decision point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8CC27-30B5-46AF-8700-9375D9B9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Run v1, compare to v0, then decide whether neural Stage 2 is justified.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9BD71-9730-4C02-892E-1441E455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49530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27CB3-38CD-491A-8CD3-C6593AC8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336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C55E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22C55E"/>
                </a:solidFill>
                <a:latin typeface="Aptos Display"/>
                <a:ea typeface="Aptos Display"/>
                <a:cs typeface="Aptos Display"/>
              </a:rPr>
              <a:t>Next milestone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B9F34-3F37-46D2-9ECE-554879F9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19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9346D-5FFF-4BF9-AD7C-B17B4C58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432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Train grid-localizer-v1 on merged teacher labels.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B9B0A-2DF5-482A-8BF1-4B306BBB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76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29F993-48FD-44E5-B199-0DF80CEF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004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Run in-domain and Geneval before/after benchmarks.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FB6EC6-8D2A-4B6B-B55E-AE0AAAC1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3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E1A01E-CF8C-453A-A700-4E0438C4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576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Judge with Qwen3.7 and compare v1 vs v0.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3DB1AC-99B3-4168-AA30-95C75095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47900"/>
            <a:ext cx="4762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F28749-1DA0-475D-8E52-0588A573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336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Decision after v1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B4EF18-A2DF-43B4-B249-991A19AD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19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FEBE71-6501-40B2-A3BD-6B59C99A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43250"/>
            <a:ext cx="390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If v1 improves: scale labels and benchmark size.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86D379-C6E4-4EBA-92D5-1396E364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90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6DF131-2926-4640-B11E-0AD54B3D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14750"/>
            <a:ext cx="390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If v1 remains weak: move to neural/multimodal student localizer.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3E9889-4431-43E7-83D2-9A4B1585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62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15D039-A7F7-42A1-A0CF-B7EC52F8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86250"/>
            <a:ext cx="390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Keep selector fixed until evaluator/localizer is strong.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EFB0CD-202B-4027-A159-6E267749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Sources: ASCR repo README, AI_COLLAB_LOG, result JSON summaries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454472-A97E-4BDA-B90E-5BC2FDBF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088901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2026-06-18T10:03:48.7440000Z</dcterms:created>
  <dcterms:modified xsi:type="dcterms:W3CDTF">2026-06-18T10:03:48.7440000Z</dcterms:modified>
</coreProperties>
</file>