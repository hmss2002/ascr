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97380"/>
                </a:solidFill>
                <a:latin typeface="Aptos"/>
              </a:rPr>
              <a:t>PhD weekly report / 组会汇报</a:t>
            </a:r>
            <a:endParaRPr sz="1000" b="0">
              <a:solidFill>
                <a:srgbClr val="697380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203044"/>
                </a:solidFill>
                <a:latin typeface="Aptos"/>
              </a:rPr>
              <a:t>Stage 3: Self-Corrupted Token Repair</a:t>
            </a:r>
            <a:endParaRPr sz="3400" b="1">
              <a:solidFill>
                <a:srgbClr val="20304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9692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465260"/>
                </a:solidFill>
                <a:latin typeface="Aptos"/>
              </a:rPr>
              <a:t>Discrete-token corruption → clean-token/image recovery → SFT pairs → Lumina repair behavior</a:t>
            </a:r>
            <a:endParaRPr sz="1700" b="0">
              <a:solidFill>
                <a:srgbClr val="465260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58368" y="2971800"/>
            <a:ext cx="521208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971800"/>
            <a:ext cx="73152" cy="1645920"/>
          </a:xfrm>
          <a:prstGeom prst="rect">
            <a:avLst/>
          </a:prstGeom>
          <a:solidFill>
            <a:srgbClr val="426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790" y="3136265"/>
            <a:ext cx="3977640" cy="1045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汇报范围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Only Stage 3 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Phase 0-5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6172200" y="2971800"/>
            <a:ext cx="502920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2971800"/>
            <a:ext cx="73152" cy="1645920"/>
          </a:xfrm>
          <a:prstGeom prst="rect">
            <a:avLst/>
          </a:prstGeom>
          <a:solidFill>
            <a:srgbClr val="4E8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3136392"/>
            <a:ext cx="4645152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Core claim / 核心问题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Can corrupted discrete VQ tokens teach localized repair?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Labels come from known token masks, not human judgment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ASCR Stage 3 weekly update | Page 1</a:t>
            </a:r>
            <a:endParaRPr sz="800" b="0">
              <a:solidFill>
                <a:srgbClr val="6973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03044"/>
                </a:solidFill>
                <a:latin typeface="Aptos"/>
              </a:rPr>
              <a:t>Stage 3 Objective / 目标</a:t>
            </a:r>
            <a:endParaRPr sz="2400" b="1">
              <a:solidFill>
                <a:srgbClr val="20304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97380"/>
                </a:solidFill>
                <a:latin typeface="Aptos"/>
              </a:rPr>
              <a:t>From controlled token corruption to supervised repair behavior</a:t>
            </a:r>
            <a:endParaRPr sz="1000" b="0">
              <a:solidFill>
                <a:srgbClr val="697380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CD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1691640" cy="74980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26792"/>
                </a:solidFill>
                <a:latin typeface="Aptos"/>
              </a:rPr>
              <a:t>Clean 64×64
VQ tokens</a:t>
            </a:r>
            <a:endParaRPr sz="1200" b="1">
              <a:solidFill>
                <a:srgbClr val="426792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2377440" y="2386584"/>
            <a:ext cx="457200" cy="0"/>
          </a:xfrm>
          <a:prstGeom prst="line">
            <a:avLst/>
          </a:prstGeom>
          <a:ln w="20320">
            <a:solidFill>
              <a:srgbClr val="465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26080" y="2011680"/>
            <a:ext cx="1691640" cy="74980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9C7A3F"/>
                </a:solidFill>
                <a:latin typeface="Aptos"/>
              </a:rPr>
              <a:t>Controlled
corruption</a:t>
            </a:r>
            <a:endParaRPr sz="1200" b="1">
              <a:solidFill>
                <a:srgbClr val="9C7A3F"/>
              </a:solidFill>
              <a:latin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4617720" y="2386584"/>
            <a:ext cx="457200" cy="0"/>
          </a:xfrm>
          <a:prstGeom prst="line">
            <a:avLst/>
          </a:prstGeom>
          <a:ln w="20320">
            <a:solidFill>
              <a:srgbClr val="465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66360" y="2011680"/>
            <a:ext cx="1691640" cy="74980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9E5B5B"/>
                </a:solidFill>
                <a:latin typeface="Aptos"/>
              </a:rPr>
              <a:t>Corrupted
VQ tokens</a:t>
            </a:r>
            <a:endParaRPr sz="1200" b="1">
              <a:solidFill>
                <a:srgbClr val="9E5B5B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6858000" y="2386584"/>
            <a:ext cx="457200" cy="0"/>
          </a:xfrm>
          <a:prstGeom prst="line">
            <a:avLst/>
          </a:prstGeom>
          <a:ln w="20320">
            <a:solidFill>
              <a:srgbClr val="465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06640" y="2011680"/>
            <a:ext cx="1691640" cy="74980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E817C"/>
                </a:solidFill>
                <a:latin typeface="Aptos"/>
              </a:rPr>
              <a:t>Known mask →
8×8 cells</a:t>
            </a:r>
            <a:endParaRPr sz="1200" b="1">
              <a:solidFill>
                <a:srgbClr val="4E817C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9098280" y="2386584"/>
            <a:ext cx="457200" cy="0"/>
          </a:xfrm>
          <a:prstGeom prst="line">
            <a:avLst/>
          </a:prstGeom>
          <a:ln w="20320">
            <a:solidFill>
              <a:srgbClr val="465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46920" y="2011680"/>
            <a:ext cx="1691640" cy="74980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88760"/>
                </a:solidFill>
                <a:latin typeface="Aptos"/>
              </a:rPr>
              <a:t>SFT target
{"cells": [...]}</a:t>
            </a:r>
            <a:endParaRPr sz="1200" b="1">
              <a:solidFill>
                <a:srgbClr val="588760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7240" y="3749039"/>
            <a:ext cx="106070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749039"/>
            <a:ext cx="73152" cy="1325880"/>
          </a:xfrm>
          <a:prstGeom prst="rect">
            <a:avLst/>
          </a:prstGeom>
          <a:solidFill>
            <a:srgbClr val="426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913631"/>
            <a:ext cx="1022299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What Stage 3 is trying to learn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Input: original prompt + corrupted discrete image-token state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Output: compact repair-cell JSON, e.g. {"cells":["D4","D5"]}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Training signal: corrupted-clean pairs generated inside Lumina token 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ASCR Stage 3 weekly update | Page 2</a:t>
            </a:r>
            <a:endParaRPr sz="800" b="0">
              <a:solidFill>
                <a:srgbClr val="6973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03044"/>
                </a:solidFill>
                <a:latin typeface="Aptos"/>
              </a:rPr>
              <a:t>Phase Map / 阶段地图</a:t>
            </a:r>
            <a:endParaRPr sz="2400" b="1">
              <a:solidFill>
                <a:srgbClr val="20304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97380"/>
                </a:solidFill>
                <a:latin typeface="Aptos"/>
              </a:rPr>
              <a:t>Phase 0-5 only</a:t>
            </a:r>
            <a:endParaRPr sz="1000" b="0">
              <a:solidFill>
                <a:srgbClr val="697380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CD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508760" cy="438912"/>
          </a:xfrm>
          <a:prstGeom prst="roundRect">
            <a:avLst/>
          </a:prstGeom>
          <a:solidFill>
            <a:srgbClr val="426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P0
Direction reset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2240280" y="1819656"/>
            <a:ext cx="173736" cy="0"/>
          </a:xfrm>
          <a:prstGeom prst="line">
            <a:avLst/>
          </a:prstGeom>
          <a:ln w="20320">
            <a:solidFill>
              <a:srgbClr val="CD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87168" y="1600200"/>
            <a:ext cx="1508760" cy="438912"/>
          </a:xfrm>
          <a:prstGeom prst="roundRect">
            <a:avLst/>
          </a:prstGeom>
          <a:solidFill>
            <a:srgbClr val="588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P1
Locality probe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995928" y="1819656"/>
            <a:ext cx="173735" cy="0"/>
          </a:xfrm>
          <a:prstGeom prst="line">
            <a:avLst/>
          </a:prstGeom>
          <a:ln w="20320">
            <a:solidFill>
              <a:srgbClr val="CD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42816" y="1600200"/>
            <a:ext cx="1508760" cy="438912"/>
          </a:xfrm>
          <a:prstGeom prst="roundRect">
            <a:avLst/>
          </a:prstGeom>
          <a:solidFill>
            <a:srgbClr val="588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P2
Dataset build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751575" y="1819656"/>
            <a:ext cx="173737" cy="0"/>
          </a:xfrm>
          <a:prstGeom prst="line">
            <a:avLst/>
          </a:prstGeom>
          <a:ln w="20320">
            <a:solidFill>
              <a:srgbClr val="CD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98464" y="1600200"/>
            <a:ext cx="1508760" cy="438912"/>
          </a:xfrm>
          <a:prstGeom prst="roundRect">
            <a:avLst/>
          </a:prstGeom>
          <a:solidFill>
            <a:srgbClr val="588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P3
Selector baselines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7507223" y="1819656"/>
            <a:ext cx="173737" cy="0"/>
          </a:xfrm>
          <a:prstGeom prst="line">
            <a:avLst/>
          </a:prstGeom>
          <a:ln w="20320">
            <a:solidFill>
              <a:srgbClr val="CD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54112" y="1600200"/>
            <a:ext cx="1508760" cy="438912"/>
          </a:xfrm>
          <a:prstGeom prst="roundRect">
            <a:avLst/>
          </a:prstGeom>
          <a:solidFill>
            <a:srgbClr val="9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P4
MMU/LoRA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9262872" y="1819656"/>
            <a:ext cx="173736" cy="0"/>
          </a:xfrm>
          <a:prstGeom prst="line">
            <a:avLst/>
          </a:prstGeom>
          <a:ln w="20320">
            <a:solidFill>
              <a:srgbClr val="CD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509760" y="1600200"/>
            <a:ext cx="1508760" cy="438912"/>
          </a:xfrm>
          <a:prstGeom prst="roundRect">
            <a:avLst/>
          </a:prstGeom>
          <a:solidFill>
            <a:srgbClr val="588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P5
Loop wired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2743200"/>
            <a:ext cx="342900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2743200"/>
            <a:ext cx="73152" cy="2194560"/>
          </a:xfrm>
          <a:prstGeom prst="rect">
            <a:avLst/>
          </a:prstGeom>
          <a:solidFill>
            <a:srgbClr val="588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2907792"/>
            <a:ext cx="3044952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Completed / 已完成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P0 research direction reset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P1 smoke locality gate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P2 self-corruption dataset tooling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P3 baseline gate on Hard64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743200"/>
            <a:ext cx="342900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2743200"/>
            <a:ext cx="73152" cy="2194560"/>
          </a:xfrm>
          <a:prstGeom prst="rect">
            <a:avLst/>
          </a:prstGeom>
          <a:solidFill>
            <a:srgbClr val="9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2907792"/>
            <a:ext cx="3044952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In progress / 进行中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P4 repair_cells LoRA is runnable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Format still unstable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Localization quality is the blocker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2743200"/>
            <a:ext cx="342900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01000" y="2743200"/>
            <a:ext cx="73152" cy="2194560"/>
          </a:xfrm>
          <a:prstGeom prst="rect">
            <a:avLst/>
          </a:prstGeom>
          <a:solidFill>
            <a:srgbClr val="426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2907792"/>
            <a:ext cx="3044952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Next / 下一步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P5 loop engineering verified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Run oracle upper bound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Compare image-space teacher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ASCR Stage 3 weekly update | Page 3</a:t>
            </a:r>
            <a:endParaRPr sz="800" b="0">
              <a:solidFill>
                <a:srgbClr val="6973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03044"/>
                </a:solidFill>
                <a:latin typeface="Aptos"/>
              </a:rPr>
              <a:t>Phase 0: Direction Reset / 方向重置</a:t>
            </a:r>
            <a:endParaRPr sz="2400" b="1">
              <a:solidFill>
                <a:srgbClr val="20304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97380"/>
                </a:solidFill>
                <a:latin typeface="Aptos"/>
              </a:rPr>
              <a:t>Old cross-model Stage 3 is no longer the mainline</a:t>
            </a:r>
            <a:endParaRPr sz="1000" b="0">
              <a:solidFill>
                <a:srgbClr val="697380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CD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2064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73152" cy="1828800"/>
          </a:xfrm>
          <a:prstGeom prst="rect">
            <a:avLst/>
          </a:prstGeom>
          <a:solidFill>
            <a:srgbClr val="426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73352"/>
            <a:ext cx="4736592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Research framing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Mainline: self-corrupted token repair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Conservative claim: local repair signal, not general intelligence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Stage 2 JSON evaluator remains separate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160520"/>
            <a:ext cx="2011680" cy="685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697380"/>
                </a:solidFill>
                <a:latin typeface="Aptos"/>
              </a:rPr>
              <a:t>Prompt + image
Stage 2 path</a:t>
            </a:r>
            <a:endParaRPr sz="1200" b="1">
              <a:solidFill>
                <a:srgbClr val="697380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74920" y="4160520"/>
            <a:ext cx="2011680" cy="685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26792"/>
                </a:solidFill>
                <a:latin typeface="Aptos"/>
              </a:rPr>
              <a:t>Prompt + corrupted
VQ tokens</a:t>
            </a:r>
            <a:endParaRPr sz="1200" b="1">
              <a:solidFill>
                <a:srgbClr val="426792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144000" y="4160520"/>
            <a:ext cx="2011680" cy="685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E817C"/>
                </a:solidFill>
                <a:latin typeface="Aptos"/>
              </a:rPr>
              <a:t>TokenReopenMask
Stage 3 path</a:t>
            </a:r>
            <a:endParaRPr sz="1200" b="1">
              <a:solidFill>
                <a:srgbClr val="4E817C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3063240" y="4507992"/>
            <a:ext cx="1920240" cy="0"/>
          </a:xfrm>
          <a:prstGeom prst="line">
            <a:avLst/>
          </a:prstGeom>
          <a:ln w="20320">
            <a:solidFill>
              <a:srgbClr val="465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4507992"/>
            <a:ext cx="1920240" cy="0"/>
          </a:xfrm>
          <a:prstGeom prst="line">
            <a:avLst/>
          </a:prstGeom>
          <a:ln w="20320">
            <a:solidFill>
              <a:srgbClr val="465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ASCR Stage 3 weekly update | Page 4</a:t>
            </a:r>
            <a:endParaRPr sz="800" b="0">
              <a:solidFill>
                <a:srgbClr val="6973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03044"/>
                </a:solidFill>
                <a:latin typeface="Aptos"/>
              </a:rPr>
              <a:t>Phase 1: Token Locality Probe / 局部性验证</a:t>
            </a:r>
            <a:endParaRPr sz="2400" b="1">
              <a:solidFill>
                <a:srgbClr val="20304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97380"/>
                </a:solidFill>
                <a:latin typeface="Aptos"/>
              </a:rPr>
              <a:t>Before training, check whether token corruption has local visual effects</a:t>
            </a:r>
            <a:endParaRPr sz="1000" b="0">
              <a:solidFill>
                <a:srgbClr val="697380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CD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169164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26792"/>
                </a:solidFill>
                <a:latin typeface="Aptos"/>
              </a:rPr>
              <a:t>Clean tokens</a:t>
            </a:r>
            <a:endParaRPr sz="1200" b="1">
              <a:solidFill>
                <a:srgbClr val="426792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2468880" y="1929384"/>
            <a:ext cx="411480" cy="0"/>
          </a:xfrm>
          <a:prstGeom prst="line">
            <a:avLst/>
          </a:prstGeom>
          <a:ln w="20320">
            <a:solidFill>
              <a:srgbClr val="465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71800" y="1600200"/>
            <a:ext cx="169164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9C7A3F"/>
                </a:solidFill>
                <a:latin typeface="Aptos"/>
              </a:rPr>
              <a:t>Corrupt block</a:t>
            </a:r>
            <a:endParaRPr sz="1200" b="1">
              <a:solidFill>
                <a:srgbClr val="9C7A3F"/>
              </a:solidFill>
              <a:latin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4663440" y="1929384"/>
            <a:ext cx="411480" cy="0"/>
          </a:xfrm>
          <a:prstGeom prst="line">
            <a:avLst/>
          </a:prstGeom>
          <a:ln w="20320">
            <a:solidFill>
              <a:srgbClr val="465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66359" y="1600200"/>
            <a:ext cx="169164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E817C"/>
                </a:solidFill>
                <a:latin typeface="Aptos"/>
              </a:rPr>
              <a:t>Decode</a:t>
            </a:r>
            <a:endParaRPr sz="1200" b="1">
              <a:solidFill>
                <a:srgbClr val="4E817C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6858000" y="1929384"/>
            <a:ext cx="411479" cy="0"/>
          </a:xfrm>
          <a:prstGeom prst="line">
            <a:avLst/>
          </a:prstGeom>
          <a:ln w="20320">
            <a:solidFill>
              <a:srgbClr val="465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60919" y="1600200"/>
            <a:ext cx="169164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9E5B5B"/>
                </a:solidFill>
                <a:latin typeface="Aptos"/>
              </a:rPr>
              <a:t>Difference map</a:t>
            </a:r>
            <a:endParaRPr sz="1200" b="1">
              <a:solidFill>
                <a:srgbClr val="9E5B5B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9052559" y="1929384"/>
            <a:ext cx="411481" cy="0"/>
          </a:xfrm>
          <a:prstGeom prst="line">
            <a:avLst/>
          </a:prstGeom>
          <a:ln w="20320">
            <a:solidFill>
              <a:srgbClr val="465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555480" y="1600200"/>
            <a:ext cx="169164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88760"/>
                </a:solidFill>
                <a:latin typeface="Aptos"/>
              </a:rPr>
              <a:t>Locality metrics</a:t>
            </a:r>
            <a:endParaRPr sz="1200" b="1">
              <a:solidFill>
                <a:srgbClr val="588760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7240" y="3063240"/>
            <a:ext cx="512064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063240"/>
            <a:ext cx="73152" cy="2103120"/>
          </a:xfrm>
          <a:prstGeom prst="rect">
            <a:avLst/>
          </a:prstGeom>
          <a:solidFill>
            <a:srgbClr val="426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227832"/>
            <a:ext cx="4736592" cy="1874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Implemented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Corruptors: random_replace, local_shuffle, neighbor_copy, transplant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Metrics: inside energy, top-1/top-k hit, radius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Outputs: manifest, summary, heatmaps, images, tokens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063240"/>
            <a:ext cx="512064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063240"/>
            <a:ext cx="73152" cy="2103120"/>
          </a:xfrm>
          <a:prstGeom prst="rect">
            <a:avLst/>
          </a:prstGeom>
          <a:solidFill>
            <a:srgbClr val="588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227832"/>
            <a:ext cx="4736592" cy="1874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Recorded result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Smoke: 8 prompts, 24 corruption rows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Generation/decode succeeded for all rows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4×4 random replace and local_shuffle showed clear locality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ASCR Stage 3 weekly update | Page 5</a:t>
            </a:r>
            <a:endParaRPr sz="800" b="0">
              <a:solidFill>
                <a:srgbClr val="6973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03044"/>
                </a:solidFill>
                <a:latin typeface="Aptos"/>
              </a:rPr>
              <a:t>Phase 2: Self-Corruption Dataset / 数据构造</a:t>
            </a:r>
            <a:endParaRPr sz="2400" b="1">
              <a:solidFill>
                <a:srgbClr val="20304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97380"/>
                </a:solidFill>
                <a:latin typeface="Aptos"/>
              </a:rPr>
              <a:t>Create corrupted-clean pairs with exact labels</a:t>
            </a:r>
            <a:endParaRPr sz="1000" b="0">
              <a:solidFill>
                <a:srgbClr val="697380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CD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1444752" cy="6217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26792"/>
                </a:solidFill>
                <a:latin typeface="Aptos"/>
              </a:rPr>
              <a:t>clean_vq_ids
64×64</a:t>
            </a:r>
            <a:endParaRPr sz="1200" b="1">
              <a:solidFill>
                <a:srgbClr val="426792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1947672" y="1773936"/>
            <a:ext cx="384048" cy="0"/>
          </a:xfrm>
          <a:prstGeom prst="line">
            <a:avLst/>
          </a:prstGeom>
          <a:ln w="20320">
            <a:solidFill>
              <a:srgbClr val="465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04872" y="1463040"/>
            <a:ext cx="1444752" cy="6217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9C7A3F"/>
                </a:solidFill>
                <a:latin typeface="Aptos"/>
              </a:rPr>
              <a:t>mask
1/2/4/8</a:t>
            </a:r>
            <a:endParaRPr sz="1200" b="1">
              <a:solidFill>
                <a:srgbClr val="9C7A3F"/>
              </a:solidFill>
              <a:latin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849624" y="1773936"/>
            <a:ext cx="384048" cy="0"/>
          </a:xfrm>
          <a:prstGeom prst="line">
            <a:avLst/>
          </a:prstGeom>
          <a:ln w="20320">
            <a:solidFill>
              <a:srgbClr val="465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06824" y="1463040"/>
            <a:ext cx="1444752" cy="6217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9C7A3F"/>
                </a:solidFill>
                <a:latin typeface="Aptos"/>
              </a:rPr>
              <a:t>operator
4 choices</a:t>
            </a:r>
            <a:endParaRPr sz="1200" b="1">
              <a:solidFill>
                <a:srgbClr val="9C7A3F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751576" y="1773936"/>
            <a:ext cx="384048" cy="0"/>
          </a:xfrm>
          <a:prstGeom prst="line">
            <a:avLst/>
          </a:prstGeom>
          <a:ln w="20320">
            <a:solidFill>
              <a:srgbClr val="465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09030" y="1463040"/>
            <a:ext cx="1511300" cy="621665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9E5B5B"/>
                </a:solidFill>
                <a:latin typeface="Aptos"/>
              </a:rPr>
              <a:t>corrupted_vq_ids</a:t>
            </a:r>
            <a:endParaRPr sz="1200" b="1">
              <a:solidFill>
                <a:srgbClr val="9E5B5B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7653528" y="1773936"/>
            <a:ext cx="384047" cy="0"/>
          </a:xfrm>
          <a:prstGeom prst="line">
            <a:avLst/>
          </a:prstGeom>
          <a:ln w="20320">
            <a:solidFill>
              <a:srgbClr val="465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110728" y="1463040"/>
            <a:ext cx="1444752" cy="6217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E817C"/>
                </a:solidFill>
                <a:latin typeface="Aptos"/>
              </a:rPr>
              <a:t>project to
8×8 cells</a:t>
            </a:r>
            <a:endParaRPr sz="1200" b="1">
              <a:solidFill>
                <a:srgbClr val="4E817C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9555480" y="1773936"/>
            <a:ext cx="384048" cy="0"/>
          </a:xfrm>
          <a:prstGeom prst="line">
            <a:avLst/>
          </a:prstGeom>
          <a:ln w="20320">
            <a:solidFill>
              <a:srgbClr val="465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012680" y="1463040"/>
            <a:ext cx="1444752" cy="6217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88760"/>
                </a:solidFill>
                <a:latin typeface="Aptos"/>
              </a:rPr>
              <a:t>SFT row
JSON target</a:t>
            </a:r>
            <a:endParaRPr sz="1200" b="1">
              <a:solidFill>
                <a:srgbClr val="588760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" y="2743200"/>
            <a:ext cx="507492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743200"/>
            <a:ext cx="73152" cy="2331720"/>
          </a:xfrm>
          <a:prstGeom prst="rect">
            <a:avLst/>
          </a:prstGeom>
          <a:solidFill>
            <a:srgbClr val="426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907792"/>
            <a:ext cx="4690872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Canonical dataset row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Positive: corrupted tokens + nonempty cells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Negative: same clean tokens + {"cells":[]}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Decoded images are audit-only, not label sources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743200"/>
            <a:ext cx="507492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743200"/>
            <a:ext cx="73152" cy="2331720"/>
          </a:xfrm>
          <a:prstGeom prst="rect">
            <a:avLst/>
          </a:prstGeom>
          <a:solidFill>
            <a:srgbClr val="4E8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2907792"/>
            <a:ext cx="4690872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Current scale target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10k clean prompts / clean tokens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30k positive + 10k negative repair rows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Group-safe SFT split by source clean sample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ASCR Stage 3 weekly update | Page 6</a:t>
            </a:r>
            <a:endParaRPr sz="800" b="0">
              <a:solidFill>
                <a:srgbClr val="6973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03044"/>
                </a:solidFill>
                <a:latin typeface="Aptos"/>
              </a:rPr>
              <a:t>Phase 3: Selector Baselines / 基线选择器</a:t>
            </a:r>
            <a:endParaRPr sz="2400" b="1">
              <a:solidFill>
                <a:srgbClr val="20304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97380"/>
                </a:solidFill>
                <a:latin typeface="Aptos"/>
              </a:rPr>
              <a:t>Check learnability before training Lumina adapters</a:t>
            </a:r>
            <a:endParaRPr sz="1000" b="0">
              <a:solidFill>
                <a:srgbClr val="697380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CD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2377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2377440"/>
          </a:xfrm>
          <a:prstGeom prst="rect">
            <a:avLst/>
          </a:prstGeom>
          <a:solidFill>
            <a:srgbClr val="426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2999232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Baselines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random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token_prior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RGB diff oracle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RGB localizer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prompt + RGB localizer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83280" cy="2377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73152" cy="2377440"/>
          </a:xfrm>
          <a:prstGeom prst="rect">
            <a:avLst/>
          </a:prstGeom>
          <a:solidFill>
            <a:srgbClr val="4E8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581912"/>
            <a:ext cx="2999232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Metrics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precision / recall / F1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cell IoU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hit_any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distance to target cells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383280" cy="2377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417320"/>
            <a:ext cx="73152" cy="2377440"/>
          </a:xfrm>
          <a:prstGeom prst="rect">
            <a:avLst/>
          </a:prstGeom>
          <a:solidFill>
            <a:srgbClr val="588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581912"/>
            <a:ext cx="2999232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Recorded gate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Hard64 dataset: 128 rows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prompt_rgb_localizer: 0.875 hit_any at 16×16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Enough to justify Phase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ASCR Stage 3 weekly update | Page 7</a:t>
            </a:r>
            <a:endParaRPr sz="800" b="0">
              <a:solidFill>
                <a:srgbClr val="6973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03044"/>
                </a:solidFill>
                <a:latin typeface="Aptos"/>
              </a:rPr>
              <a:t>Phase 4: MMU / LoRA Repair Learning</a:t>
            </a:r>
            <a:endParaRPr sz="2400" b="1">
              <a:solidFill>
                <a:srgbClr val="20304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97380"/>
                </a:solidFill>
                <a:latin typeface="Aptos"/>
              </a:rPr>
              <a:t>Train Lumina to output repair cells from corrupted token state</a:t>
            </a:r>
            <a:endParaRPr sz="1000" b="0">
              <a:solidFill>
                <a:srgbClr val="697380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CD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18288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26792"/>
                </a:solidFill>
                <a:latin typeface="Aptos"/>
              </a:rPr>
              <a:t>Prompt +
corrupted tokens</a:t>
            </a:r>
            <a:endParaRPr sz="1200" b="1">
              <a:solidFill>
                <a:srgbClr val="426792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246120" y="1508760"/>
            <a:ext cx="18288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E817C"/>
                </a:solidFill>
                <a:latin typeface="Aptos"/>
              </a:rPr>
              <a:t>Lumina MMU
answer path</a:t>
            </a:r>
            <a:endParaRPr sz="1200" b="1">
              <a:solidFill>
                <a:srgbClr val="4E817C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15000" y="1508760"/>
            <a:ext cx="18288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9C7A3F"/>
                </a:solidFill>
                <a:latin typeface="Aptos"/>
              </a:rPr>
              <a:t>LoRA SFT
adapter</a:t>
            </a:r>
            <a:endParaRPr sz="1200" b="1">
              <a:solidFill>
                <a:srgbClr val="9C7A3F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183879" y="1508760"/>
            <a:ext cx="182880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88760"/>
                </a:solidFill>
                <a:latin typeface="Aptos"/>
              </a:rPr>
              <a:t>JSON
{"cells":[]}</a:t>
            </a:r>
            <a:endParaRPr sz="1200" b="1">
              <a:solidFill>
                <a:srgbClr val="588760"/>
              </a:solidFill>
              <a:latin typeface="Aptos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606040" y="1837943"/>
            <a:ext cx="548640" cy="0"/>
          </a:xfrm>
          <a:prstGeom prst="line">
            <a:avLst/>
          </a:prstGeom>
          <a:ln w="20320">
            <a:solidFill>
              <a:srgbClr val="465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074920" y="1837943"/>
            <a:ext cx="548640" cy="0"/>
          </a:xfrm>
          <a:prstGeom prst="line">
            <a:avLst/>
          </a:prstGeom>
          <a:ln w="20320">
            <a:solidFill>
              <a:srgbClr val="465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43800" y="1837943"/>
            <a:ext cx="548640" cy="0"/>
          </a:xfrm>
          <a:prstGeom prst="line">
            <a:avLst/>
          </a:prstGeom>
          <a:ln w="20320">
            <a:solidFill>
              <a:srgbClr val="465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" y="2788920"/>
            <a:ext cx="507492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73152" cy="2240280"/>
          </a:xfrm>
          <a:prstGeom prst="rect">
            <a:avLst/>
          </a:prstGeom>
          <a:solidFill>
            <a:srgbClr val="426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953512"/>
            <a:ext cx="4690872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What has been implemented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SFT prep + Lumina SFT conversion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VQ-token and decoded-image input modes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Single-GPU and DDP LoRA training wrappers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H200/L40S profile configs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88920"/>
            <a:ext cx="507492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788920"/>
            <a:ext cx="73152" cy="2240280"/>
          </a:xfrm>
          <a:prstGeom prst="rect">
            <a:avLst/>
          </a:prstGeom>
          <a:solidFill>
            <a:srgbClr val="9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953512"/>
            <a:ext cx="4690872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Known Phase-4 evidence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Zero-shot parse_rate: 0.0 on early probe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Old-schema LoRA loss: 9.75 → 0.157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Old-schema LoRA eval parse_rate: 0.156; hit_any: 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ASCR Stage 3 weekly update | Page 8</a:t>
            </a:r>
            <a:endParaRPr sz="800" b="0">
              <a:solidFill>
                <a:srgbClr val="6973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03044"/>
                </a:solidFill>
                <a:latin typeface="Aptos"/>
              </a:rPr>
              <a:t>Current Mainline Update / 当前主线</a:t>
            </a:r>
            <a:endParaRPr sz="2400" b="1">
              <a:solidFill>
                <a:srgbClr val="20304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97380"/>
                </a:solidFill>
                <a:latin typeface="Aptos"/>
              </a:rPr>
              <a:t>Token-only 8×8 repair_cells schema</a:t>
            </a:r>
            <a:endParaRPr sz="1000" b="0">
              <a:solidFill>
                <a:srgbClr val="697380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CD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2064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2331720"/>
          </a:xfrm>
          <a:prstGeom prst="rect">
            <a:avLst/>
          </a:prstGeom>
          <a:solidFill>
            <a:srgbClr val="588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4736592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Schema simplification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Target JSON has exactly one key: cells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Positive example: {"cells":["D4","D5"]}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Negative example: {"cells":[]}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12064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73152" cy="2331720"/>
          </a:xfrm>
          <a:prstGeom prst="rect">
            <a:avLst/>
          </a:prstGeom>
          <a:solidFill>
            <a:srgbClr val="426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581912"/>
            <a:ext cx="4736592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Why this matters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Removes legacy key mismatch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Directly matches reopen decision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Parse rate must be near 1 before localization metrics matter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106984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160520"/>
            <a:ext cx="73152" cy="960120"/>
          </a:xfrm>
          <a:prstGeom prst="rect">
            <a:avLst/>
          </a:prstGeom>
          <a:solidFill>
            <a:srgbClr val="9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325112"/>
            <a:ext cx="1031443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Resource note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1024px LoRA training is memory-sensitive; current configs include H200 1024px and L40S gradient-checkpointing/8-bit-Adam profiles.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ASCR Stage 3 weekly update | Page 9</a:t>
            </a:r>
            <a:endParaRPr sz="800" b="0">
              <a:solidFill>
                <a:srgbClr val="6973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03044"/>
                </a:solidFill>
                <a:latin typeface="Aptos"/>
              </a:rPr>
              <a:t>Phase 5: ASCR Loop Integration / 闭环修复</a:t>
            </a:r>
            <a:endParaRPr sz="2400" b="1">
              <a:solidFill>
                <a:srgbClr val="20304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97380"/>
                </a:solidFill>
                <a:latin typeface="Aptos"/>
              </a:rPr>
              <a:t>Engineering loop now runs; localizer quality is the bottleneck</a:t>
            </a:r>
            <a:endParaRPr sz="1000" b="0">
              <a:solidFill>
                <a:srgbClr val="697380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CD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169164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26792"/>
                </a:solidFill>
                <a:latin typeface="Aptos"/>
              </a:rPr>
              <a:t>Lumina
baseline image</a:t>
            </a:r>
            <a:endParaRPr sz="1200" b="1">
              <a:solidFill>
                <a:srgbClr val="426792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2468880" y="1929384"/>
            <a:ext cx="411480" cy="0"/>
          </a:xfrm>
          <a:prstGeom prst="line">
            <a:avLst/>
          </a:prstGeom>
          <a:ln w="20320">
            <a:solidFill>
              <a:srgbClr val="465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71800" y="1600200"/>
            <a:ext cx="169164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E817C"/>
                </a:solidFill>
                <a:latin typeface="Aptos"/>
              </a:rPr>
              <a:t>Predict
repair cells</a:t>
            </a:r>
            <a:endParaRPr sz="1200" b="1">
              <a:solidFill>
                <a:srgbClr val="4E817C"/>
              </a:solidFill>
              <a:latin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4663440" y="1929384"/>
            <a:ext cx="411480" cy="0"/>
          </a:xfrm>
          <a:prstGeom prst="line">
            <a:avLst/>
          </a:prstGeom>
          <a:ln w="20320">
            <a:solidFill>
              <a:srgbClr val="465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66359" y="1600200"/>
            <a:ext cx="169164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9C7A3F"/>
                </a:solidFill>
                <a:latin typeface="Aptos"/>
              </a:rPr>
              <a:t>Reopen selected
VQ tokens</a:t>
            </a:r>
            <a:endParaRPr sz="1200" b="1">
              <a:solidFill>
                <a:srgbClr val="9C7A3F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6858000" y="1929384"/>
            <a:ext cx="411479" cy="0"/>
          </a:xfrm>
          <a:prstGeom prst="line">
            <a:avLst/>
          </a:prstGeom>
          <a:ln w="20320">
            <a:solidFill>
              <a:srgbClr val="465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60919" y="1600200"/>
            <a:ext cx="169164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88760"/>
                </a:solidFill>
                <a:latin typeface="Aptos"/>
              </a:rPr>
              <a:t>Decode repaired
image</a:t>
            </a:r>
            <a:endParaRPr sz="1200" b="1">
              <a:solidFill>
                <a:srgbClr val="588760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9052559" y="1929384"/>
            <a:ext cx="411481" cy="0"/>
          </a:xfrm>
          <a:prstGeom prst="line">
            <a:avLst/>
          </a:prstGeom>
          <a:ln w="20320">
            <a:solidFill>
              <a:srgbClr val="465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555480" y="1600200"/>
            <a:ext cx="169164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65260"/>
                </a:solidFill>
                <a:latin typeface="Aptos"/>
              </a:rPr>
              <a:t>Optional
accept/reject</a:t>
            </a:r>
            <a:endParaRPr sz="1200" b="1">
              <a:solidFill>
                <a:srgbClr val="465260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7240" y="3154680"/>
            <a:ext cx="512064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154680"/>
            <a:ext cx="73152" cy="1828800"/>
          </a:xfrm>
          <a:prstGeom prst="rect">
            <a:avLst/>
          </a:prstGeom>
          <a:solidFill>
            <a:srgbClr val="588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319272"/>
            <a:ext cx="4736592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New evidence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Single-sample smoke completed: 161923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2-sample benchmark completed: 161943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ok_count=2, error_count=0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154680"/>
            <a:ext cx="512064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154680"/>
            <a:ext cx="73152" cy="1828800"/>
          </a:xfrm>
          <a:prstGeom prst="rect">
            <a:avLst/>
          </a:prstGeom>
          <a:solidFill>
            <a:srgbClr val="9E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319272"/>
            <a:ext cx="4736592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But localizer failed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target=B5 in both samples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LoRA predicted D/F/G rows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hit_any=0/2 despite reopen_changed=1.0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ASCR Stage 3 weekly update | Page 10</a:t>
            </a:r>
            <a:endParaRPr sz="800" b="0">
              <a:solidFill>
                <a:srgbClr val="6973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03044"/>
                </a:solidFill>
                <a:latin typeface="Aptos"/>
              </a:rPr>
              <a:t>Stage-5 Result: Working Loop, Failed Native Localizer</a:t>
            </a:r>
            <a:endParaRPr sz="2400" b="1">
              <a:solidFill>
                <a:srgbClr val="20304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97380"/>
                </a:solidFill>
                <a:latin typeface="Aptos"/>
              </a:rPr>
              <a:t>The result is useful as a negative baseline, not as the final selector</a:t>
            </a:r>
            <a:endParaRPr sz="1000" b="0">
              <a:solidFill>
                <a:srgbClr val="697380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CD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8328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3246120"/>
          </a:xfrm>
          <a:prstGeom prst="rect">
            <a:avLst/>
          </a:prstGeom>
          <a:solidFill>
            <a:srgbClr val="588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90472"/>
            <a:ext cx="2999232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What succeeded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clean/corrupt/reopen/decode path runs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LoRA answer path no longer crashes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Artifacts: trace, masks, before/after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38328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325880"/>
            <a:ext cx="73152" cy="3246120"/>
          </a:xfrm>
          <a:prstGeom prst="rect">
            <a:avLst/>
          </a:prstGeom>
          <a:solidFill>
            <a:srgbClr val="9E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490472"/>
            <a:ext cx="2999232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What failed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raw MMU text is malformed/repetitive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parser recovers cells but not meaning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selected cells miss true target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38328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325880"/>
            <a:ext cx="73152" cy="3246120"/>
          </a:xfrm>
          <a:prstGeom prst="rect">
            <a:avLst/>
          </a:prstGeom>
          <a:solidFill>
            <a:srgbClr val="9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490472"/>
            <a:ext cx="2999232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How to report it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Current LoRA = failed baseline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Do not claim repair quality yet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Use as evidence for stronger supervision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ASCR Stage 3 weekly update | Page 11</a:t>
            </a:r>
            <a:endParaRPr sz="800" b="0">
              <a:solidFill>
                <a:srgbClr val="6973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03044"/>
                </a:solidFill>
                <a:latin typeface="Aptos"/>
              </a:rPr>
              <a:t>Decision Point: Add Oracle + Stage-2 Image-Space Teacher</a:t>
            </a:r>
            <a:endParaRPr sz="2400" b="1">
              <a:solidFill>
                <a:srgbClr val="203044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CD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2064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2194560"/>
          </a:xfrm>
          <a:prstGeom prst="rect">
            <a:avLst/>
          </a:prstGeom>
          <a:solidFill>
            <a:srgbClr val="426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90472"/>
            <a:ext cx="4736592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Oracle upper bound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Use true target_cells directly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Same prompt/corruption/reopen path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If oracle fails: generator/reopen problem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If oracle works: localizer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512064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325880"/>
            <a:ext cx="73152" cy="2194560"/>
          </a:xfrm>
          <a:prstGeom prst="rect">
            <a:avLst/>
          </a:prstGeom>
          <a:solidFill>
            <a:srgbClr val="4E8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490472"/>
            <a:ext cx="4736592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Stage-2 style branch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External API analyzes decoded images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Image-space evaluator/localizer, not VQ-token input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Use as teacher/control loop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Compare to native LoRA selector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ASCR Stage 3 weekly update | Page 12</a:t>
            </a:r>
            <a:endParaRPr sz="800" b="0">
              <a:solidFill>
                <a:srgbClr val="6973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03044"/>
                </a:solidFill>
                <a:latin typeface="Aptos"/>
              </a:rPr>
              <a:t>Next Actions / 下一步</a:t>
            </a:r>
            <a:endParaRPr sz="2400" b="1">
              <a:solidFill>
                <a:srgbClr val="203044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CDD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2064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2011680"/>
          </a:xfrm>
          <a:prstGeom prst="rect">
            <a:avLst/>
          </a:prstGeom>
          <a:solidFill>
            <a:srgbClr val="426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90472"/>
            <a:ext cx="4736592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Short-term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Implement oracle selector mode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Run oracle vs LoRA on same prompts/seeds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Summarize hit_any, mask size, reopen_changed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512064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325880"/>
            <a:ext cx="73152" cy="2011680"/>
          </a:xfrm>
          <a:prstGeom prst="rect">
            <a:avLst/>
          </a:prstGeom>
          <a:solidFill>
            <a:srgbClr val="4E8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490472"/>
            <a:ext cx="4736592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Image-space control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Prototype external API evaluator on decoded corrupted images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Keep outputs clearly labeled as teacher/API branch</a:t>
            </a: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Do not mix teacher labels into Stage-3 self-supervision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106984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794760"/>
            <a:ext cx="73152" cy="1325880"/>
          </a:xfrm>
          <a:prstGeom prst="rect">
            <a:avLst/>
          </a:prstGeom>
          <a:solidFill>
            <a:srgbClr val="9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59352"/>
            <a:ext cx="1031443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044"/>
                </a:solidFill>
                <a:latin typeface="Aptos"/>
              </a:rPr>
              <a:t>Training implication</a:t>
            </a:r>
            <a:endParaRPr sz="1400" b="1">
              <a:solidFill>
                <a:srgbClr val="203044"/>
              </a:solidFill>
              <a:latin typeface="Aptos"/>
            </a:endParaRPr>
          </a:p>
          <a:p>
            <a:pPr>
              <a:spcBef>
                <a:spcPts val="600"/>
              </a:spcBef>
              <a:defRPr sz="1100">
                <a:solidFill>
                  <a:srgbClr val="465260"/>
                </a:solidFill>
                <a:latin typeface="Aptos"/>
              </a:defRPr>
            </a:pPr>
            <a:r>
              <a:t>Only retrain native localizer after the oracle branch shows the reopen mechanism can produce meaningful improvements.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ASCR Stage 3 weekly update | Page 13</a:t>
            </a:r>
            <a:endParaRPr sz="800" b="0">
              <a:solidFill>
                <a:srgbClr val="697380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5966</Words>
  <Application>WPS 演示</Application>
  <PresentationFormat>On-screen Show (4:3)</PresentationFormat>
  <Paragraphs>291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Arial</vt:lpstr>
      <vt:lpstr>Aptos</vt:lpstr>
      <vt:lpstr>Segoe UI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13917</cp:lastModifiedBy>
  <cp:revision>4</cp:revision>
  <dcterms:created xsi:type="dcterms:W3CDTF">2013-01-27T09:14:00Z</dcterms:created>
  <dcterms:modified xsi:type="dcterms:W3CDTF">2026-07-02T17:33:39Z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82B8CDE47E724C0C8CFEBB7E7DC70E64_12</vt:lpwstr>
  </property>
  <property fmtid="{D5CDD505-2E9C-101B-9397-08002B2CF9AE}" pid="3" name="KSOProductBuildVer">
    <vt:lpwstr>2052-12.1.0.26895</vt:lpwstr>
  </property>
</Properties>
</file>